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 id="2147483655"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type="screen16x9"/>
  <p:notesSz cx="7102475" cy="10233025"/>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66F0A66-3EF1-41DA-8110-F2586B1F48AC}">
  <a:tblStyle styleId="{966F0A66-3EF1-41DA-8110-F2586B1F48A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med" len="med"/>
              <a:tailEnd type="none" w="med" len="med"/>
            </a:ln>
          </a:left>
          <a:right>
            <a:ln w="12700" cap="flat" cmpd="sng">
              <a:solidFill>
                <a:schemeClr val="lt1"/>
              </a:solidFill>
              <a:prstDash val="solid"/>
              <a:round/>
              <a:headEnd type="none" w="med" len="med"/>
              <a:tailEnd type="none" w="med" len="med"/>
            </a:ln>
          </a:right>
          <a:top>
            <a:ln w="12700" cap="flat" cmpd="sng">
              <a:solidFill>
                <a:schemeClr val="lt1"/>
              </a:solidFill>
              <a:prstDash val="solid"/>
              <a:round/>
              <a:headEnd type="none" w="med" len="med"/>
              <a:tailEnd type="none" w="med" len="med"/>
            </a:ln>
          </a:top>
          <a:bottom>
            <a:ln w="12700" cap="flat" cmpd="sng">
              <a:solidFill>
                <a:schemeClr val="lt1"/>
              </a:solidFill>
              <a:prstDash val="solid"/>
              <a:round/>
              <a:headEnd type="none" w="med" len="med"/>
              <a:tailEnd type="none" w="med" len="med"/>
            </a:ln>
          </a:bottom>
          <a:insideH>
            <a:ln w="12700" cap="flat" cmpd="sng">
              <a:solidFill>
                <a:schemeClr val="lt1"/>
              </a:solidFill>
              <a:prstDash val="solid"/>
              <a:round/>
              <a:headEnd type="none" w="med" len="med"/>
              <a:tailEnd type="none" w="med" len="med"/>
            </a:ln>
          </a:insideH>
          <a:insideV>
            <a:ln w="12700" cap="flat" cmpd="sng">
              <a:solidFill>
                <a:schemeClr val="lt1"/>
              </a:solidFill>
              <a:prstDash val="solid"/>
              <a:round/>
              <a:headEnd type="none" w="med" len="med"/>
              <a:tailEnd type="none" w="med" len="med"/>
            </a:ln>
          </a:insideV>
        </a:tcBdr>
        <a:fill>
          <a:solidFill>
            <a:srgbClr val="E8ECF4"/>
          </a:solidFill>
        </a:fill>
      </a:tcStyle>
    </a:wholeTbl>
    <a:band1H>
      <a:tcStyle>
        <a:tcBdr/>
        <a:fill>
          <a:solidFill>
            <a:srgbClr val="CFD7E7"/>
          </a:solidFill>
        </a:fill>
      </a:tcStyle>
    </a:band1H>
    <a:band1V>
      <a:tcStyle>
        <a:tcBdr/>
        <a:fill>
          <a:solidFill>
            <a:srgbClr val="CFD7E7"/>
          </a:solidFill>
        </a:fill>
      </a:tcStyle>
    </a:band1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med" len="med"/>
              <a:tailEnd type="none" w="med" len="med"/>
            </a:ln>
          </a:top>
        </a:tcBdr>
        <a:fill>
          <a:solidFill>
            <a:schemeClr val="accent1"/>
          </a:solidFill>
        </a:fill>
      </a:tcStyle>
    </a:lastRow>
    <a:firstRow>
      <a:tcTxStyle b="on" i="off">
        <a:font>
          <a:latin typeface="Arial"/>
          <a:ea typeface="Arial"/>
          <a:cs typeface="Arial"/>
        </a:font>
        <a:schemeClr val="lt1"/>
      </a:tcTxStyle>
      <a:tcStyle>
        <a:tcBdr>
          <a:bottom>
            <a:ln w="38100" cap="flat" cmpd="sng">
              <a:solidFill>
                <a:schemeClr val="lt1"/>
              </a:solidFill>
              <a:prstDash val="solid"/>
              <a:round/>
              <a:headEnd type="none" w="med" len="med"/>
              <a:tailEnd type="none" w="med" len="med"/>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70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41288" y="766763"/>
            <a:ext cx="6821487"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710248" y="4860687"/>
            <a:ext cx="5681979" cy="4604861"/>
          </a:xfrm>
          <a:prstGeom prst="rect">
            <a:avLst/>
          </a:prstGeom>
          <a:noFill/>
          <a:ln>
            <a:noFill/>
          </a:ln>
        </p:spPr>
        <p:txBody>
          <a:bodyPr lIns="99041" tIns="99041" rIns="99041" bIns="99041" anchor="t"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100" b="0" i="0" u="none" strike="noStrike" cap="none">
                <a:solidFill>
                  <a:schemeClr val="dk1"/>
                </a:solidFill>
                <a:latin typeface="Arial"/>
                <a:ea typeface="Arial"/>
                <a:cs typeface="Arial"/>
                <a:sym typeface="Arial"/>
              </a:defRPr>
            </a:lvl2pPr>
            <a:lvl3pPr marL="914400" marR="0" lvl="2" indent="0" algn="l" rtl="0">
              <a:spcBef>
                <a:spcPts val="0"/>
              </a:spcBef>
              <a:buNone/>
              <a:defRPr sz="1100" b="0" i="0" u="none" strike="noStrike" cap="none">
                <a:solidFill>
                  <a:schemeClr val="dk1"/>
                </a:solidFill>
                <a:latin typeface="Arial"/>
                <a:ea typeface="Arial"/>
                <a:cs typeface="Arial"/>
                <a:sym typeface="Arial"/>
              </a:defRPr>
            </a:lvl3pPr>
            <a:lvl4pPr marL="1371600" marR="0" lvl="3" indent="0" algn="l" rtl="0">
              <a:spcBef>
                <a:spcPts val="0"/>
              </a:spcBef>
              <a:buNone/>
              <a:defRPr sz="1100" b="0" i="0" u="none" strike="noStrike" cap="none">
                <a:solidFill>
                  <a:schemeClr val="dk1"/>
                </a:solidFill>
                <a:latin typeface="Arial"/>
                <a:ea typeface="Arial"/>
                <a:cs typeface="Arial"/>
                <a:sym typeface="Arial"/>
              </a:defRPr>
            </a:lvl4pPr>
            <a:lvl5pPr marL="1828800" marR="0" lvl="4" indent="0" algn="l" rtl="0">
              <a:spcBef>
                <a:spcPts val="0"/>
              </a:spcBef>
              <a:buNone/>
              <a:defRPr sz="1100" b="0" i="0" u="none" strike="noStrike" cap="none">
                <a:solidFill>
                  <a:schemeClr val="dk1"/>
                </a:solidFill>
                <a:latin typeface="Arial"/>
                <a:ea typeface="Arial"/>
                <a:cs typeface="Arial"/>
                <a:sym typeface="Arial"/>
              </a:defRPr>
            </a:lvl5pPr>
            <a:lvl6pPr marL="2286000" marR="0" lvl="5" indent="0" algn="l" rtl="0">
              <a:spcBef>
                <a:spcPts val="0"/>
              </a:spcBef>
              <a:buNone/>
              <a:defRPr sz="1100" b="0" i="0" u="none" strike="noStrike" cap="none">
                <a:solidFill>
                  <a:schemeClr val="dk1"/>
                </a:solidFill>
                <a:latin typeface="Arial"/>
                <a:ea typeface="Arial"/>
                <a:cs typeface="Arial"/>
                <a:sym typeface="Arial"/>
              </a:defRPr>
            </a:lvl6pPr>
            <a:lvl7pPr marL="2743200" marR="0" lvl="6" indent="0" algn="l" rtl="0">
              <a:spcBef>
                <a:spcPts val="0"/>
              </a:spcBef>
              <a:buNone/>
              <a:defRPr sz="1100" b="0" i="0" u="none" strike="noStrike" cap="none">
                <a:solidFill>
                  <a:schemeClr val="dk1"/>
                </a:solidFill>
                <a:latin typeface="Arial"/>
                <a:ea typeface="Arial"/>
                <a:cs typeface="Arial"/>
                <a:sym typeface="Arial"/>
              </a:defRPr>
            </a:lvl7pPr>
            <a:lvl8pPr marL="3200400" marR="0" lvl="7" indent="0" algn="l" rtl="0">
              <a:spcBef>
                <a:spcPts val="0"/>
              </a:spcBef>
              <a:buNone/>
              <a:defRPr sz="1100" b="0" i="0" u="none" strike="noStrike" cap="none">
                <a:solidFill>
                  <a:schemeClr val="dk1"/>
                </a:solidFill>
                <a:latin typeface="Arial"/>
                <a:ea typeface="Arial"/>
                <a:cs typeface="Arial"/>
                <a:sym typeface="Arial"/>
              </a:defRPr>
            </a:lvl8pPr>
            <a:lvl9pPr marL="3657600" marR="0" lvl="8" indent="0" algn="l" rtl="0">
              <a:spcBef>
                <a:spcPts val="0"/>
              </a:spcBef>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27" name="Shape 27"/>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Shape 37"/>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8" name="Shape 38"/>
          <p:cNvSpPr txBox="1">
            <a:spLocks noGrp="1"/>
          </p:cNvSpPr>
          <p:nvPr>
            <p:ph type="body" idx="1"/>
          </p:nvPr>
        </p:nvSpPr>
        <p:spPr>
          <a:xfrm>
            <a:off x="710248" y="4860687"/>
            <a:ext cx="5681979" cy="4604861"/>
          </a:xfrm>
          <a:prstGeom prst="rect">
            <a:avLst/>
          </a:prstGeom>
          <a:noFill/>
          <a:ln>
            <a:noFill/>
          </a:ln>
        </p:spPr>
        <p:txBody>
          <a:bodyPr lIns="99041" tIns="99041" rIns="99041" bIns="99041" anchor="t" anchorCtr="0">
            <a:noAutofit/>
          </a:bodyPr>
          <a:lstStyle/>
          <a:p>
            <a:pPr>
              <a:buClr>
                <a:schemeClr val="dk1"/>
              </a:buClr>
              <a:buSzPct val="25000"/>
            </a:pP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Shape 43"/>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lgn="just">
              <a:buClr>
                <a:srgbClr val="404040"/>
              </a:buClr>
              <a:buSzPct val="25000"/>
            </a:pPr>
            <a:r>
              <a:rPr lang="en-GB" sz="1200">
                <a:solidFill>
                  <a:srgbClr val="404040"/>
                </a:solidFill>
              </a:rPr>
              <a:t>Investing in real estate is becoming a common investing method. When people make the decision of   investing in real estate, especially for those non-first time buyers, they usually value different factors</a:t>
            </a:r>
          </a:p>
          <a:p>
            <a:pPr algn="just">
              <a:spcBef>
                <a:spcPts val="325"/>
              </a:spcBef>
              <a:buClr>
                <a:srgbClr val="404040"/>
              </a:buClr>
              <a:buSzPct val="25000"/>
            </a:pPr>
            <a:r>
              <a:rPr lang="en-GB" sz="1200">
                <a:solidFill>
                  <a:srgbClr val="404040"/>
                </a:solidFill>
              </a:rPr>
              <a:t>other than prices or house conditions. They might have considerations such as the costs and benefits</a:t>
            </a:r>
          </a:p>
          <a:p>
            <a:pPr algn="just">
              <a:spcBef>
                <a:spcPts val="325"/>
              </a:spcBef>
              <a:buClr>
                <a:srgbClr val="404040"/>
              </a:buClr>
              <a:buSzPct val="25000"/>
            </a:pPr>
            <a:r>
              <a:rPr lang="en-GB" sz="1200">
                <a:solidFill>
                  <a:srgbClr val="404040"/>
                </a:solidFill>
              </a:rPr>
              <a:t>to rent the house or live in the house after they retired. They might consider other factors such as neighborhood environment or taxation rates. For some environmentalist, they might also consider the CO2 emissions since it contributes the most to climate change.</a:t>
            </a:r>
          </a:p>
          <a:p>
            <a:pPr algn="just">
              <a:spcBef>
                <a:spcPts val="325"/>
              </a:spcBef>
              <a:buClr>
                <a:schemeClr val="dk1"/>
              </a:buClr>
              <a:buSzPct val="25000"/>
            </a:pPr>
            <a:endParaRPr sz="1200">
              <a:solidFill>
                <a:srgbClr val="404040"/>
              </a:solidFill>
            </a:endParaRPr>
          </a:p>
          <a:p>
            <a:pPr algn="just">
              <a:spcBef>
                <a:spcPts val="325"/>
              </a:spcBef>
              <a:buClr>
                <a:srgbClr val="404040"/>
              </a:buClr>
              <a:buSzPct val="25000"/>
            </a:pPr>
            <a:r>
              <a:rPr lang="en-GB" sz="1200">
                <a:solidFill>
                  <a:srgbClr val="404040"/>
                </a:solidFill>
              </a:rPr>
              <a:t>In this project, we studied how each factors we collected effects the real estate investing decisions and we came up with the optimum investing suggestions.</a:t>
            </a:r>
          </a:p>
          <a:p>
            <a:pPr>
              <a:buClr>
                <a:schemeClr val="dk1"/>
              </a:buClr>
              <a:buSzPct val="25000"/>
            </a:pPr>
            <a:endParaRPr sz="1200"/>
          </a:p>
        </p:txBody>
      </p:sp>
      <p:sp>
        <p:nvSpPr>
          <p:cNvPr id="44" name="Shape 44"/>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Shape 50"/>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51" name="Shape 51"/>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57" name="Shape 57"/>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Shape 64"/>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65" name="Shape 65"/>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72" name="Shape 72"/>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Shape 78"/>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marL="495285" indent="-323311">
              <a:buClr>
                <a:schemeClr val="dk1"/>
              </a:buClr>
              <a:buSzPct val="100000"/>
              <a:buFont typeface="Arial"/>
              <a:buAutoNum type="arabicPeriod"/>
            </a:pPr>
            <a:r>
              <a:rPr lang="en-GB"/>
              <a:t>Data originally contained 28 cols, reduced to 11 (zip, city, state and 8 factors)</a:t>
            </a:r>
          </a:p>
          <a:p>
            <a:pPr marL="495285" indent="-247642">
              <a:buAutoNum type="arabicPeriod"/>
            </a:pPr>
            <a:r>
              <a:rPr lang="en-GB"/>
              <a:t>Filtered out 50 records with lowest CO2 levels (to reduce complexity of optimization model)</a:t>
            </a:r>
          </a:p>
          <a:p>
            <a:pPr marL="495285" indent="-247642">
              <a:buAutoNum type="arabicPeriod"/>
            </a:pPr>
            <a:r>
              <a:rPr lang="en-GB"/>
              <a:t>The values of various factors scaled to make them comparable</a:t>
            </a:r>
          </a:p>
          <a:p>
            <a:endParaRPr/>
          </a:p>
        </p:txBody>
      </p:sp>
      <p:sp>
        <p:nvSpPr>
          <p:cNvPr id="79" name="Shape 79"/>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Shape 86"/>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marL="495285" indent="-323311">
              <a:buClr>
                <a:schemeClr val="dk1"/>
              </a:buClr>
              <a:buSzPct val="100000"/>
              <a:buFont typeface="Arial"/>
              <a:buAutoNum type="arabicPeriod"/>
            </a:pPr>
            <a:r>
              <a:rPr lang="en-GB"/>
              <a:t>Associated one binary decision variable with each one of the 50 areas (x1 through x50)</a:t>
            </a:r>
          </a:p>
          <a:p>
            <a:pPr marL="495285" indent="-247642">
              <a:buAutoNum type="arabicPeriod"/>
            </a:pPr>
            <a:r>
              <a:rPr lang="en-GB"/>
              <a:t>We will try to select exactly 10 of these variables as a solution</a:t>
            </a:r>
          </a:p>
          <a:p>
            <a:pPr marL="495285" indent="-247642">
              <a:buAutoNum type="arabicPeriod"/>
            </a:pPr>
            <a:r>
              <a:rPr lang="en-GB"/>
              <a:t>Formulate a cost function by adding the weighted values of the 8 factors</a:t>
            </a:r>
          </a:p>
          <a:p>
            <a:pPr marL="495285" indent="-247642">
              <a:buAutoNum type="arabicPeriod"/>
            </a:pPr>
            <a:r>
              <a:rPr lang="en-GB"/>
              <a:t>We want optimal values for some factors, as a result we consider the difference between the value of that factor and an optimal value</a:t>
            </a:r>
          </a:p>
          <a:p>
            <a:pPr marL="495285" indent="-247642">
              <a:buAutoNum type="arabicPeriod"/>
            </a:pPr>
            <a:r>
              <a:rPr lang="en-GB"/>
              <a:t>Eg. desired_popden = absolute(popden-4000)</a:t>
            </a:r>
          </a:p>
          <a:p>
            <a:pPr marL="495285" indent="-247642">
              <a:buAutoNum type="arabicPeriod"/>
            </a:pPr>
            <a:r>
              <a:rPr lang="en-GB"/>
              <a:t>Others we want to minimize as much as possible eg total co2 or income tax</a:t>
            </a:r>
          </a:p>
        </p:txBody>
      </p:sp>
      <p:sp>
        <p:nvSpPr>
          <p:cNvPr id="87" name="Shape 87"/>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Shape 94"/>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95" name="Shape 95"/>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103" name="Shape 103"/>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110" name="Shape 110"/>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710248" y="4860687"/>
            <a:ext cx="5681980" cy="4604861"/>
          </a:xfrm>
          <a:prstGeom prst="rect">
            <a:avLst/>
          </a:prstGeom>
        </p:spPr>
        <p:txBody>
          <a:bodyPr lIns="99041" tIns="99041" rIns="99041" bIns="99041" anchor="t" anchorCtr="0">
            <a:noAutofit/>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Shape 125"/>
          <p:cNvSpPr txBox="1">
            <a:spLocks noGrp="1"/>
          </p:cNvSpPr>
          <p:nvPr>
            <p:ph type="body" idx="1"/>
          </p:nvPr>
        </p:nvSpPr>
        <p:spPr>
          <a:xfrm>
            <a:off x="710248" y="4860687"/>
            <a:ext cx="5681979" cy="4604861"/>
          </a:xfrm>
          <a:prstGeom prst="rect">
            <a:avLst/>
          </a:prstGeom>
        </p:spPr>
        <p:txBody>
          <a:bodyPr lIns="99041" tIns="99041" rIns="99041" bIns="99041" anchor="t" anchorCtr="0">
            <a:noAutofit/>
          </a:bodyPr>
          <a:lstStyle/>
          <a:p>
            <a:pPr marL="495285" indent="-247642">
              <a:buAutoNum type="arabicPeriod"/>
            </a:pPr>
            <a:r>
              <a:rPr lang="en-GB"/>
              <a:t>Sensitivity analysis to measure the impact of each factor on the decisions</a:t>
            </a:r>
          </a:p>
          <a:p>
            <a:pPr marL="495285" indent="-247642">
              <a:buAutoNum type="arabicPeriod"/>
            </a:pPr>
            <a:r>
              <a:rPr lang="en-GB"/>
              <a:t>Weights of each factor varied between 1 and 10 keeping the weights of all other factors constant</a:t>
            </a:r>
          </a:p>
          <a:p>
            <a:pPr marL="495285" indent="-247642">
              <a:buAutoNum type="arabicPeriod"/>
            </a:pPr>
            <a:r>
              <a:rPr lang="en-GB"/>
              <a:t>Only the affected areas are kept in these reports</a:t>
            </a:r>
          </a:p>
          <a:p>
            <a:pPr marL="495285" indent="-247642">
              <a:buAutoNum type="arabicPeriod"/>
            </a:pPr>
            <a:r>
              <a:rPr lang="en-GB"/>
              <a:t>Some show a lot of variations with change in weight (eg.Income Tax, VMT)</a:t>
            </a:r>
          </a:p>
          <a:p>
            <a:pPr marL="495285" indent="-247642">
              <a:buAutoNum type="arabicPeriod"/>
            </a:pPr>
            <a:r>
              <a:rPr lang="en-GB"/>
              <a:t>Others show minimal impact on the decisions (eg. Income)</a:t>
            </a:r>
          </a:p>
        </p:txBody>
      </p:sp>
      <p:sp>
        <p:nvSpPr>
          <p:cNvPr id="126" name="Shape 126"/>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Shape 144"/>
          <p:cNvSpPr txBox="1">
            <a:spLocks noGrp="1"/>
          </p:cNvSpPr>
          <p:nvPr>
            <p:ph type="body" idx="1"/>
          </p:nvPr>
        </p:nvSpPr>
        <p:spPr>
          <a:xfrm>
            <a:off x="710248" y="4860687"/>
            <a:ext cx="5681979" cy="4604861"/>
          </a:xfrm>
          <a:prstGeom prst="rect">
            <a:avLst/>
          </a:prstGeom>
        </p:spPr>
        <p:txBody>
          <a:bodyPr lIns="99041" tIns="99041" rIns="99041" bIns="99041" anchor="t" anchorCtr="0">
            <a:noAutofit/>
          </a:bodyPr>
          <a:lstStyle/>
          <a:p>
            <a:pPr marL="495285" indent="-247642">
              <a:buAutoNum type="arabicPeriod"/>
            </a:pPr>
            <a:r>
              <a:rPr lang="en-GB"/>
              <a:t>House price shows lot of variation in decision with change in weight</a:t>
            </a:r>
          </a:p>
          <a:p>
            <a:pPr marL="495285" indent="-247642">
              <a:buAutoNum type="arabicPeriod"/>
            </a:pPr>
            <a:r>
              <a:rPr lang="en-GB"/>
              <a:t>One of the Alaskan regions (Takotna) moves out of our decision once the weight of the total CO2 is reduced</a:t>
            </a:r>
          </a:p>
        </p:txBody>
      </p:sp>
      <p:sp>
        <p:nvSpPr>
          <p:cNvPr id="145" name="Shape 145"/>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txBox="1">
            <a:spLocks noGrp="1"/>
          </p:cNvSpPr>
          <p:nvPr>
            <p:ph type="body" idx="1"/>
          </p:nvPr>
        </p:nvSpPr>
        <p:spPr>
          <a:xfrm>
            <a:off x="710248" y="4860687"/>
            <a:ext cx="5681980" cy="4604861"/>
          </a:xfrm>
          <a:prstGeom prst="rect">
            <a:avLst/>
          </a:prstGeom>
        </p:spPr>
        <p:txBody>
          <a:bodyPr lIns="99041" tIns="99041" rIns="99041" bIns="99041" anchor="t" anchorCtr="0">
            <a:noAutofit/>
          </a:bodyPr>
          <a:lstStyle/>
          <a:p>
            <a:pPr marL="495285" indent="-247642">
              <a:buAutoNum type="arabicPeriod"/>
            </a:pPr>
            <a:r>
              <a:rPr lang="en-GB"/>
              <a:t>Altered the filtration criteria to select zip codes with house values between 200K &amp; 1million</a:t>
            </a:r>
          </a:p>
          <a:p>
            <a:pPr marL="495285" indent="-247642">
              <a:buAutoNum type="arabicPeriod"/>
            </a:pPr>
            <a:r>
              <a:rPr lang="en-GB"/>
              <a:t>Ran program using same cost functions to get the following areas of interest</a:t>
            </a:r>
          </a:p>
          <a:p>
            <a:pPr marL="495285" indent="-247642">
              <a:buAutoNum type="arabicPeriod"/>
            </a:pPr>
            <a:r>
              <a:rPr lang="en-GB"/>
              <a:t>CO2 levels had much higher values, avg income was higher and miles traveled values decreased</a:t>
            </a:r>
          </a:p>
        </p:txBody>
      </p:sp>
      <p:sp>
        <p:nvSpPr>
          <p:cNvPr id="164" name="Shape 164"/>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txBox="1">
            <a:spLocks noGrp="1"/>
          </p:cNvSpPr>
          <p:nvPr>
            <p:ph type="body" idx="1"/>
          </p:nvPr>
        </p:nvSpPr>
        <p:spPr>
          <a:xfrm>
            <a:off x="710248" y="4860687"/>
            <a:ext cx="5681979" cy="4604861"/>
          </a:xfrm>
          <a:prstGeom prst="rect">
            <a:avLst/>
          </a:prstGeom>
        </p:spPr>
        <p:txBody>
          <a:bodyPr lIns="99041" tIns="99041" rIns="99041" bIns="99041" anchor="t" anchorCtr="0">
            <a:noAutofit/>
          </a:bodyPr>
          <a:lstStyle/>
          <a:p>
            <a:endParaRPr/>
          </a:p>
        </p:txBody>
      </p:sp>
      <p:sp>
        <p:nvSpPr>
          <p:cNvPr id="172" name="Shape 172"/>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Shape 180"/>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rgbClr val="3F3F3F"/>
              </a:buClr>
              <a:buSzPct val="25000"/>
            </a:pPr>
            <a:r>
              <a:rPr lang="en-GB" sz="2200">
                <a:solidFill>
                  <a:srgbClr val="3F3F3F"/>
                </a:solidFill>
              </a:rPr>
              <a:t>Provides your customers with an instrument to make an educated choice</a:t>
            </a:r>
          </a:p>
          <a:p>
            <a:pPr>
              <a:buClr>
                <a:schemeClr val="dk1"/>
              </a:buClr>
              <a:buSzPct val="25000"/>
            </a:pPr>
            <a:endParaRPr sz="1200"/>
          </a:p>
        </p:txBody>
      </p:sp>
      <p:sp>
        <p:nvSpPr>
          <p:cNvPr id="181" name="Shape 181"/>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Shape 187"/>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8" name="Shape 188"/>
          <p:cNvSpPr txBox="1">
            <a:spLocks noGrp="1"/>
          </p:cNvSpPr>
          <p:nvPr>
            <p:ph type="body" idx="1"/>
          </p:nvPr>
        </p:nvSpPr>
        <p:spPr>
          <a:xfrm>
            <a:off x="710248" y="4860687"/>
            <a:ext cx="5681980" cy="4604861"/>
          </a:xfrm>
          <a:prstGeom prst="rect">
            <a:avLst/>
          </a:prstGeom>
        </p:spPr>
        <p:txBody>
          <a:bodyPr lIns="99041" tIns="99041" rIns="99041" bIns="99041" anchor="t" anchorCtr="0">
            <a:noAutofit/>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txBox="1">
            <a:spLocks noGrp="1"/>
          </p:cNvSpPr>
          <p:nvPr>
            <p:ph type="body" idx="1"/>
          </p:nvPr>
        </p:nvSpPr>
        <p:spPr>
          <a:xfrm>
            <a:off x="710248" y="4860687"/>
            <a:ext cx="5681979" cy="4604861"/>
          </a:xfrm>
          <a:prstGeom prst="rect">
            <a:avLst/>
          </a:prstGeom>
          <a:noFill/>
          <a:ln>
            <a:noFill/>
          </a:ln>
        </p:spPr>
        <p:txBody>
          <a:bodyPr lIns="99041" tIns="99041" rIns="99041" bIns="99041" anchor="ctr" anchorCtr="0">
            <a:noAutofit/>
          </a:bodyPr>
          <a:lstStyle/>
          <a:p>
            <a:pPr>
              <a:buClr>
                <a:schemeClr val="dk1"/>
              </a:buClr>
              <a:buSzPct val="25000"/>
            </a:pPr>
            <a:endParaRPr sz="1200"/>
          </a:p>
        </p:txBody>
      </p:sp>
      <p:sp>
        <p:nvSpPr>
          <p:cNvPr id="194" name="Shape 194"/>
          <p:cNvSpPr>
            <a:spLocks noGrp="1" noRot="1" noChangeAspect="1"/>
          </p:cNvSpPr>
          <p:nvPr>
            <p:ph type="sldImg" idx="2"/>
          </p:nvPr>
        </p:nvSpPr>
        <p:spPr>
          <a:xfrm>
            <a:off x="139700" y="766763"/>
            <a:ext cx="6823075" cy="3838575"/>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bg>
      <p:bgPr>
        <a:blipFill rotWithShape="1">
          <a:blip r:embed="rId2">
            <a:alphaModFix/>
          </a:blip>
          <a:stretch>
            <a:fillRect/>
          </a:stretch>
        </a:blip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bg>
      <p:bgPr>
        <a:blipFill rotWithShape="1">
          <a:blip r:embed="rId2">
            <a:alphaModFix/>
          </a:blip>
          <a:stretch>
            <a:fillRect/>
          </a:stretch>
        </a:blipFill>
        <a:effectLst/>
      </p:bgPr>
    </p:bg>
    <p:spTree>
      <p:nvGrpSpPr>
        <p:cNvPr id="1" name="Shape 7"/>
        <p:cNvGrpSpPr/>
        <p:nvPr/>
      </p:nvGrpSpPr>
      <p:grpSpPr>
        <a:xfrm>
          <a:off x="0" y="0"/>
          <a:ext cx="0" cy="0"/>
          <a:chOff x="0" y="0"/>
          <a:chExt cx="0" cy="0"/>
        </a:xfrm>
      </p:grpSpPr>
      <p:sp>
        <p:nvSpPr>
          <p:cNvPr id="8" name="Shape 8"/>
          <p:cNvSpPr txBox="1">
            <a:spLocks noGrp="1"/>
          </p:cNvSpPr>
          <p:nvPr>
            <p:ph type="title"/>
          </p:nvPr>
        </p:nvSpPr>
        <p:spPr>
          <a:xfrm>
            <a:off x="0" y="0"/>
            <a:ext cx="9144000" cy="884466"/>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3F3F3F"/>
              </a:buClr>
              <a:buFont typeface="Arial"/>
              <a:buNone/>
              <a:defRPr sz="3600" b="1" i="0" u="none" strike="noStrike" cap="none">
                <a:solidFill>
                  <a:srgbClr val="3F3F3F"/>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9" name="Shape 9"/>
          <p:cNvSpPr txBox="1">
            <a:spLocks noGrp="1"/>
          </p:cNvSpPr>
          <p:nvPr>
            <p:ph type="body" idx="1"/>
          </p:nvPr>
        </p:nvSpPr>
        <p:spPr>
          <a:xfrm>
            <a:off x="395536" y="987574"/>
            <a:ext cx="8496944" cy="460647"/>
          </a:xfrm>
          <a:prstGeom prst="rect">
            <a:avLst/>
          </a:prstGeom>
          <a:noFill/>
          <a:ln>
            <a:noFill/>
          </a:ln>
        </p:spPr>
        <p:txBody>
          <a:bodyPr lIns="91425" tIns="91425" rIns="91425" bIns="91425" anchor="ctr" anchorCtr="0"/>
          <a:lstStyle>
            <a:lvl1pPr marL="0" marR="0" lvl="0" indent="0" algn="l" rtl="0">
              <a:lnSpc>
                <a:spcPct val="100000"/>
              </a:lnSpc>
              <a:spcBef>
                <a:spcPts val="400"/>
              </a:spcBef>
              <a:spcAft>
                <a:spcPts val="0"/>
              </a:spcAft>
              <a:buClr>
                <a:srgbClr val="3F3F3F"/>
              </a:buClr>
              <a:buFont typeface="Arial"/>
              <a:buNone/>
              <a:defRPr sz="2000" b="0" i="0" u="none" strike="noStrike" cap="none">
                <a:solidFill>
                  <a:srgbClr val="3F3F3F"/>
                </a:solidFill>
                <a:latin typeface="Arial"/>
                <a:ea typeface="Arial"/>
                <a:cs typeface="Arial"/>
                <a:sym typeface="Arial"/>
              </a:defRPr>
            </a:lvl1pPr>
            <a:lvl2pPr marL="742950" marR="0" lvl="1" indent="69850" algn="l" rtl="0">
              <a:lnSpc>
                <a:spcPct val="100000"/>
              </a:lnSpc>
              <a:spcBef>
                <a:spcPts val="560"/>
              </a:spcBef>
              <a:spcAft>
                <a:spcPts val="0"/>
              </a:spcAft>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lnSpc>
                <a:spcPct val="100000"/>
              </a:lnSpc>
              <a:spcBef>
                <a:spcPts val="480"/>
              </a:spcBef>
              <a:spcAft>
                <a:spcPts val="0"/>
              </a:spcAft>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 name="Shape 10"/>
          <p:cNvSpPr txBox="1">
            <a:spLocks noGrp="1"/>
          </p:cNvSpPr>
          <p:nvPr>
            <p:ph type="body" idx="2"/>
          </p:nvPr>
        </p:nvSpPr>
        <p:spPr>
          <a:xfrm>
            <a:off x="405880" y="1664243"/>
            <a:ext cx="8496944" cy="2995737"/>
          </a:xfrm>
          <a:prstGeom prst="rect">
            <a:avLst/>
          </a:prstGeom>
          <a:noFill/>
          <a:ln>
            <a:noFill/>
          </a:ln>
        </p:spPr>
        <p:txBody>
          <a:bodyPr lIns="91425" tIns="91425" rIns="91425" bIns="91425" anchor="t" anchorCtr="0"/>
          <a:lstStyle>
            <a:lvl1pPr marL="0" marR="0" lvl="0" indent="0" algn="l" rtl="0">
              <a:lnSpc>
                <a:spcPct val="100000"/>
              </a:lnSpc>
              <a:spcBef>
                <a:spcPts val="280"/>
              </a:spcBef>
              <a:spcAft>
                <a:spcPts val="0"/>
              </a:spcAft>
              <a:buClr>
                <a:srgbClr val="3F3F3F"/>
              </a:buClr>
              <a:buFont typeface="Arial"/>
              <a:buNone/>
              <a:defRPr sz="1400" b="0" i="0" u="none" strike="noStrike" cap="none">
                <a:solidFill>
                  <a:srgbClr val="3F3F3F"/>
                </a:solidFill>
                <a:latin typeface="Arial"/>
                <a:ea typeface="Arial"/>
                <a:cs typeface="Arial"/>
                <a:sym typeface="Arial"/>
              </a:defRPr>
            </a:lvl1pPr>
            <a:lvl2pPr marL="742950" marR="0" lvl="1" indent="69850" algn="l" rtl="0">
              <a:lnSpc>
                <a:spcPct val="100000"/>
              </a:lnSpc>
              <a:spcBef>
                <a:spcPts val="560"/>
              </a:spcBef>
              <a:spcAft>
                <a:spcPts val="0"/>
              </a:spcAft>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lnSpc>
                <a:spcPct val="100000"/>
              </a:lnSpc>
              <a:spcBef>
                <a:spcPts val="480"/>
              </a:spcBef>
              <a:spcAft>
                <a:spcPts val="0"/>
              </a:spcAft>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and Content">
    <p:bg>
      <p:bgPr>
        <a:blipFill rotWithShape="1">
          <a:blip r:embed="rId2">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1619670" y="0"/>
            <a:ext cx="7524327" cy="884466"/>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3F3F3F"/>
              </a:buClr>
              <a:buFont typeface="Arial"/>
              <a:buNone/>
              <a:defRPr sz="3600" b="1" i="0" u="none" strike="noStrike" cap="none">
                <a:solidFill>
                  <a:srgbClr val="3F3F3F"/>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13" name="Shape 13"/>
          <p:cNvSpPr txBox="1">
            <a:spLocks noGrp="1"/>
          </p:cNvSpPr>
          <p:nvPr>
            <p:ph type="body" idx="1"/>
          </p:nvPr>
        </p:nvSpPr>
        <p:spPr>
          <a:xfrm>
            <a:off x="1979710" y="987574"/>
            <a:ext cx="6912767" cy="460647"/>
          </a:xfrm>
          <a:prstGeom prst="rect">
            <a:avLst/>
          </a:prstGeom>
          <a:noFill/>
          <a:ln>
            <a:noFill/>
          </a:ln>
        </p:spPr>
        <p:txBody>
          <a:bodyPr lIns="91425" tIns="91425" rIns="91425" bIns="91425" anchor="ctr" anchorCtr="0"/>
          <a:lstStyle>
            <a:lvl1pPr marL="0" marR="0" lvl="0" indent="0" algn="l" rtl="0">
              <a:lnSpc>
                <a:spcPct val="100000"/>
              </a:lnSpc>
              <a:spcBef>
                <a:spcPts val="400"/>
              </a:spcBef>
              <a:spcAft>
                <a:spcPts val="0"/>
              </a:spcAft>
              <a:buClr>
                <a:srgbClr val="3F3F3F"/>
              </a:buClr>
              <a:buFont typeface="Arial"/>
              <a:buNone/>
              <a:defRPr sz="2000" b="0" i="0" u="none" strike="noStrike" cap="none">
                <a:solidFill>
                  <a:srgbClr val="3F3F3F"/>
                </a:solidFill>
                <a:latin typeface="Arial"/>
                <a:ea typeface="Arial"/>
                <a:cs typeface="Arial"/>
                <a:sym typeface="Arial"/>
              </a:defRPr>
            </a:lvl1pPr>
            <a:lvl2pPr marL="742950" marR="0" lvl="1" indent="69850" algn="l" rtl="0">
              <a:lnSpc>
                <a:spcPct val="100000"/>
              </a:lnSpc>
              <a:spcBef>
                <a:spcPts val="560"/>
              </a:spcBef>
              <a:spcAft>
                <a:spcPts val="0"/>
              </a:spcAft>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lnSpc>
                <a:spcPct val="100000"/>
              </a:lnSpc>
              <a:spcBef>
                <a:spcPts val="480"/>
              </a:spcBef>
              <a:spcAft>
                <a:spcPts val="0"/>
              </a:spcAft>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body" idx="2"/>
          </p:nvPr>
        </p:nvSpPr>
        <p:spPr>
          <a:xfrm>
            <a:off x="1990056" y="1664243"/>
            <a:ext cx="6912767" cy="2995737"/>
          </a:xfrm>
          <a:prstGeom prst="rect">
            <a:avLst/>
          </a:prstGeom>
          <a:noFill/>
          <a:ln>
            <a:noFill/>
          </a:ln>
        </p:spPr>
        <p:txBody>
          <a:bodyPr lIns="91425" tIns="91425" rIns="91425" bIns="91425" anchor="t" anchorCtr="0"/>
          <a:lstStyle>
            <a:lvl1pPr marL="0" marR="0" lvl="0" indent="0" algn="l" rtl="0">
              <a:lnSpc>
                <a:spcPct val="100000"/>
              </a:lnSpc>
              <a:spcBef>
                <a:spcPts val="280"/>
              </a:spcBef>
              <a:spcAft>
                <a:spcPts val="0"/>
              </a:spcAft>
              <a:buClr>
                <a:srgbClr val="3F3F3F"/>
              </a:buClr>
              <a:buFont typeface="Arial"/>
              <a:buNone/>
              <a:defRPr sz="1400" b="0" i="0" u="none" strike="noStrike" cap="none">
                <a:solidFill>
                  <a:srgbClr val="3F3F3F"/>
                </a:solidFill>
                <a:latin typeface="Arial"/>
                <a:ea typeface="Arial"/>
                <a:cs typeface="Arial"/>
                <a:sym typeface="Arial"/>
              </a:defRPr>
            </a:lvl1pPr>
            <a:lvl2pPr marL="742950" marR="0" lvl="1" indent="69850" algn="l" rtl="0">
              <a:lnSpc>
                <a:spcPct val="100000"/>
              </a:lnSpc>
              <a:spcBef>
                <a:spcPts val="560"/>
              </a:spcBef>
              <a:spcAft>
                <a:spcPts val="0"/>
              </a:spcAft>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lnSpc>
                <a:spcPct val="100000"/>
              </a:lnSpc>
              <a:spcBef>
                <a:spcPts val="480"/>
              </a:spcBef>
              <a:spcAft>
                <a:spcPts val="0"/>
              </a:spcAft>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Slide">
    <p:bg>
      <p:bgPr>
        <a:blipFill rotWithShape="1">
          <a:blip r:embed="rId2">
            <a:alphaModFix/>
          </a:blip>
          <a:stretch>
            <a:fillRect/>
          </a:stretch>
        </a:blipFill>
        <a:effectLst/>
      </p:bgPr>
    </p:bg>
    <p:spTree>
      <p:nvGrpSpPr>
        <p:cNvPr id="1" name="Shape 1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Content">
    <p:bg>
      <p:bgPr>
        <a:blipFill rotWithShape="1">
          <a:blip r:embed="rId2">
            <a:alphaModFix/>
          </a:blip>
          <a:stretch>
            <a:fillRect/>
          </a:stretch>
        </a:blipFill>
        <a:effectLst/>
      </p:bgPr>
    </p:bg>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0" y="0"/>
            <a:ext cx="9144000" cy="884400"/>
          </a:xfrm>
          <a:prstGeom prst="rect">
            <a:avLst/>
          </a:prstGeom>
          <a:noFill/>
          <a:ln>
            <a:noFill/>
          </a:ln>
        </p:spPr>
        <p:txBody>
          <a:bodyPr lIns="91425" tIns="91425" rIns="91425" bIns="91425" anchor="ctr" anchorCtr="0"/>
          <a:lstStyle>
            <a:lvl1pPr marL="0" marR="0" lvl="0" indent="0" algn="l" rtl="0">
              <a:spcBef>
                <a:spcPts val="0"/>
              </a:spcBef>
              <a:buClr>
                <a:srgbClr val="3F3F3F"/>
              </a:buClr>
              <a:buFont typeface="Arial"/>
              <a:buNone/>
              <a:defRPr sz="3600" b="1" i="0" u="none" strike="noStrike" cap="none">
                <a:solidFill>
                  <a:srgbClr val="3F3F3F"/>
                </a:solidFill>
                <a:latin typeface="Arial"/>
                <a:ea typeface="Arial"/>
                <a:cs typeface="Arial"/>
                <a:sym typeface="Arial"/>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19" name="Shape 19"/>
          <p:cNvSpPr txBox="1">
            <a:spLocks noGrp="1"/>
          </p:cNvSpPr>
          <p:nvPr>
            <p:ph type="body" idx="1"/>
          </p:nvPr>
        </p:nvSpPr>
        <p:spPr>
          <a:xfrm>
            <a:off x="395536" y="987574"/>
            <a:ext cx="8496900" cy="460500"/>
          </a:xfrm>
          <a:prstGeom prst="rect">
            <a:avLst/>
          </a:prstGeom>
          <a:noFill/>
          <a:ln>
            <a:noFill/>
          </a:ln>
        </p:spPr>
        <p:txBody>
          <a:bodyPr lIns="91425" tIns="91425" rIns="91425" bIns="91425" anchor="ctr" anchorCtr="0"/>
          <a:lstStyle>
            <a:lvl1pPr marL="0" marR="0" lvl="0" indent="0" algn="l" rtl="0">
              <a:spcBef>
                <a:spcPts val="400"/>
              </a:spcBef>
              <a:buClr>
                <a:srgbClr val="3F3F3F"/>
              </a:buClr>
              <a:buFont typeface="Arial"/>
              <a:buNone/>
              <a:defRPr sz="2000" b="0" i="0" u="none" strike="noStrike" cap="none">
                <a:solidFill>
                  <a:srgbClr val="3F3F3F"/>
                </a:solidFill>
                <a:latin typeface="Arial"/>
                <a:ea typeface="Arial"/>
                <a:cs typeface="Arial"/>
                <a:sym typeface="Arial"/>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0" name="Shape 20"/>
          <p:cNvSpPr txBox="1">
            <a:spLocks noGrp="1"/>
          </p:cNvSpPr>
          <p:nvPr>
            <p:ph type="body" idx="2"/>
          </p:nvPr>
        </p:nvSpPr>
        <p:spPr>
          <a:xfrm>
            <a:off x="405880" y="1664244"/>
            <a:ext cx="8496900" cy="2995800"/>
          </a:xfrm>
          <a:prstGeom prst="rect">
            <a:avLst/>
          </a:prstGeom>
          <a:noFill/>
          <a:ln>
            <a:noFill/>
          </a:ln>
        </p:spPr>
        <p:txBody>
          <a:bodyPr lIns="91425" tIns="91425" rIns="91425" bIns="91425" anchor="t" anchorCtr="0"/>
          <a:lstStyle>
            <a:lvl1pPr marL="0" marR="0" lvl="0" indent="0" algn="l" rtl="0">
              <a:spcBef>
                <a:spcPts val="280"/>
              </a:spcBef>
              <a:buClr>
                <a:srgbClr val="3F3F3F"/>
              </a:buClr>
              <a:buFont typeface="Arial"/>
              <a:buNone/>
              <a:defRPr sz="1400" b="0" i="0" u="none" strike="noStrike" cap="none">
                <a:solidFill>
                  <a:srgbClr val="3F3F3F"/>
                </a:solidFill>
                <a:latin typeface="Arial"/>
                <a:ea typeface="Arial"/>
                <a:cs typeface="Arial"/>
                <a:sym typeface="Arial"/>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Title and Content">
    <p:bg>
      <p:bgPr>
        <a:blipFill rotWithShape="1">
          <a:blip r:embed="rId2">
            <a:alphaModFix/>
          </a:blip>
          <a:stretch>
            <a:fillRect/>
          </a:stretch>
        </a:blipFill>
        <a:effectLst/>
      </p:bgPr>
    </p:bg>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1619671" y="0"/>
            <a:ext cx="7524300" cy="884400"/>
          </a:xfrm>
          <a:prstGeom prst="rect">
            <a:avLst/>
          </a:prstGeom>
          <a:noFill/>
          <a:ln>
            <a:noFill/>
          </a:ln>
        </p:spPr>
        <p:txBody>
          <a:bodyPr lIns="91425" tIns="91425" rIns="91425" bIns="91425" anchor="ctr" anchorCtr="0"/>
          <a:lstStyle>
            <a:lvl1pPr marL="0" marR="0" lvl="0" indent="0" algn="l" rtl="0">
              <a:spcBef>
                <a:spcPts val="0"/>
              </a:spcBef>
              <a:buClr>
                <a:srgbClr val="3F3F3F"/>
              </a:buClr>
              <a:buFont typeface="Arial"/>
              <a:buNone/>
              <a:defRPr sz="3600" b="1" i="0" u="none" strike="noStrike" cap="none">
                <a:solidFill>
                  <a:srgbClr val="3F3F3F"/>
                </a:solidFill>
                <a:latin typeface="Arial"/>
                <a:ea typeface="Arial"/>
                <a:cs typeface="Arial"/>
                <a:sym typeface="Arial"/>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23" name="Shape 23"/>
          <p:cNvSpPr txBox="1">
            <a:spLocks noGrp="1"/>
          </p:cNvSpPr>
          <p:nvPr>
            <p:ph type="body" idx="1"/>
          </p:nvPr>
        </p:nvSpPr>
        <p:spPr>
          <a:xfrm>
            <a:off x="1979711" y="987574"/>
            <a:ext cx="6912900" cy="460500"/>
          </a:xfrm>
          <a:prstGeom prst="rect">
            <a:avLst/>
          </a:prstGeom>
          <a:noFill/>
          <a:ln>
            <a:noFill/>
          </a:ln>
        </p:spPr>
        <p:txBody>
          <a:bodyPr lIns="91425" tIns="91425" rIns="91425" bIns="91425" anchor="ctr" anchorCtr="0"/>
          <a:lstStyle>
            <a:lvl1pPr marL="0" marR="0" lvl="0" indent="0" algn="l" rtl="0">
              <a:spcBef>
                <a:spcPts val="400"/>
              </a:spcBef>
              <a:buClr>
                <a:srgbClr val="3F3F3F"/>
              </a:buClr>
              <a:buFont typeface="Arial"/>
              <a:buNone/>
              <a:defRPr sz="2000" b="0" i="0" u="none" strike="noStrike" cap="none">
                <a:solidFill>
                  <a:srgbClr val="3F3F3F"/>
                </a:solidFill>
                <a:latin typeface="Arial"/>
                <a:ea typeface="Arial"/>
                <a:cs typeface="Arial"/>
                <a:sym typeface="Arial"/>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4" name="Shape 24"/>
          <p:cNvSpPr txBox="1">
            <a:spLocks noGrp="1"/>
          </p:cNvSpPr>
          <p:nvPr>
            <p:ph type="body" idx="2"/>
          </p:nvPr>
        </p:nvSpPr>
        <p:spPr>
          <a:xfrm>
            <a:off x="1990056" y="1664244"/>
            <a:ext cx="6912900" cy="2995800"/>
          </a:xfrm>
          <a:prstGeom prst="rect">
            <a:avLst/>
          </a:prstGeom>
          <a:noFill/>
          <a:ln>
            <a:noFill/>
          </a:ln>
        </p:spPr>
        <p:txBody>
          <a:bodyPr lIns="91425" tIns="91425" rIns="91425" bIns="91425" anchor="t" anchorCtr="0"/>
          <a:lstStyle>
            <a:lvl1pPr marL="0" marR="0" lvl="0" indent="0" algn="l" rtl="0">
              <a:spcBef>
                <a:spcPts val="280"/>
              </a:spcBef>
              <a:buClr>
                <a:srgbClr val="3F3F3F"/>
              </a:buClr>
              <a:buFont typeface="Arial"/>
              <a:buNone/>
              <a:defRPr sz="1400" b="0" i="0" u="none" strike="noStrike" cap="none">
                <a:solidFill>
                  <a:srgbClr val="3F3F3F"/>
                </a:solidFill>
                <a:latin typeface="Arial"/>
                <a:ea typeface="Arial"/>
                <a:cs typeface="Arial"/>
                <a:sym typeface="Arial"/>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Arial"/>
                <a:ea typeface="Arial"/>
                <a:cs typeface="Arial"/>
                <a:sym typeface="Arial"/>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Arial"/>
                <a:ea typeface="Arial"/>
                <a:cs typeface="Arial"/>
                <a:sym typeface="Arial"/>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coolclimate.berkeley.edu/"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modernsurvivalblog.com/retreat-living/lowest-to-highest-taxes-by-state/"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Shape 29"/>
          <p:cNvSpPr txBox="1"/>
          <p:nvPr/>
        </p:nvSpPr>
        <p:spPr>
          <a:xfrm>
            <a:off x="0" y="1419620"/>
            <a:ext cx="9143996" cy="276998"/>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3F3F3F"/>
              </a:buClr>
              <a:buSzPct val="25000"/>
              <a:buFont typeface="Arial"/>
              <a:buNone/>
            </a:pPr>
            <a:r>
              <a:rPr lang="en-GB" sz="1200" b="1" i="0" u="none" strike="noStrike" cap="none">
                <a:solidFill>
                  <a:srgbClr val="3F3F3F"/>
                </a:solidFill>
                <a:latin typeface="Arial"/>
                <a:ea typeface="Arial"/>
                <a:cs typeface="Arial"/>
                <a:sym typeface="Arial"/>
              </a:rPr>
              <a:t>ADVANCED QUANTITATIVE METHODS FOR BUSINESS</a:t>
            </a:r>
          </a:p>
        </p:txBody>
      </p:sp>
      <p:sp>
        <p:nvSpPr>
          <p:cNvPr id="30" name="Shape 30"/>
          <p:cNvSpPr txBox="1"/>
          <p:nvPr/>
        </p:nvSpPr>
        <p:spPr>
          <a:xfrm>
            <a:off x="0" y="843558"/>
            <a:ext cx="9144000" cy="584774"/>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3F3F3F"/>
              </a:buClr>
              <a:buSzPct val="25000"/>
              <a:buFont typeface="Arial"/>
              <a:buNone/>
            </a:pPr>
            <a:r>
              <a:rPr lang="en-GB" sz="3200" b="1" i="0" u="none" strike="noStrike" cap="none">
                <a:solidFill>
                  <a:srgbClr val="3F3F3F"/>
                </a:solidFill>
                <a:latin typeface="Arial"/>
                <a:ea typeface="Arial"/>
                <a:cs typeface="Arial"/>
                <a:sym typeface="Arial"/>
              </a:rPr>
              <a:t>The Real Estate Problem</a:t>
            </a:r>
          </a:p>
        </p:txBody>
      </p:sp>
      <p:sp>
        <p:nvSpPr>
          <p:cNvPr id="31" name="Shape 31"/>
          <p:cNvSpPr/>
          <p:nvPr/>
        </p:nvSpPr>
        <p:spPr>
          <a:xfrm>
            <a:off x="179510" y="4689857"/>
            <a:ext cx="1282723" cy="307777"/>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GB" sz="1400" b="0" i="0" u="none" strike="noStrike" cap="none">
                <a:solidFill>
                  <a:schemeClr val="lt1"/>
                </a:solidFill>
                <a:latin typeface="Arial"/>
                <a:ea typeface="Arial"/>
                <a:cs typeface="Arial"/>
                <a:sym typeface="Arial"/>
              </a:rPr>
              <a:t>Kuntal Ghosh</a:t>
            </a:r>
          </a:p>
        </p:txBody>
      </p:sp>
      <p:sp>
        <p:nvSpPr>
          <p:cNvPr id="32" name="Shape 32"/>
          <p:cNvSpPr/>
          <p:nvPr/>
        </p:nvSpPr>
        <p:spPr>
          <a:xfrm>
            <a:off x="2096491" y="4694232"/>
            <a:ext cx="1317990" cy="307777"/>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Arial"/>
              <a:buNone/>
            </a:pPr>
            <a:r>
              <a:rPr lang="en-GB" sz="1400" b="0" i="0" u="none" strike="noStrike" cap="none">
                <a:solidFill>
                  <a:schemeClr val="lt1"/>
                </a:solidFill>
                <a:latin typeface="Arial"/>
                <a:ea typeface="Arial"/>
                <a:cs typeface="Arial"/>
                <a:sym typeface="Arial"/>
              </a:rPr>
              <a:t>Craig DeBono</a:t>
            </a:r>
          </a:p>
        </p:txBody>
      </p:sp>
      <p:sp>
        <p:nvSpPr>
          <p:cNvPr id="33" name="Shape 33"/>
          <p:cNvSpPr/>
          <p:nvPr/>
        </p:nvSpPr>
        <p:spPr>
          <a:xfrm>
            <a:off x="3755625" y="4697837"/>
            <a:ext cx="1851300" cy="307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GB" sz="1400" b="0" i="0" u="none" strike="noStrike" cap="none">
                <a:solidFill>
                  <a:schemeClr val="lt1"/>
                </a:solidFill>
                <a:latin typeface="Arial"/>
                <a:ea typeface="Arial"/>
                <a:cs typeface="Arial"/>
                <a:sym typeface="Arial"/>
              </a:rPr>
              <a:t>Priyanka Kalmane</a:t>
            </a:r>
          </a:p>
        </p:txBody>
      </p:sp>
      <p:sp>
        <p:nvSpPr>
          <p:cNvPr id="34" name="Shape 34"/>
          <p:cNvSpPr/>
          <p:nvPr/>
        </p:nvSpPr>
        <p:spPr>
          <a:xfrm>
            <a:off x="5739371" y="4697860"/>
            <a:ext cx="1383712" cy="307777"/>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Arial"/>
              <a:buNone/>
            </a:pPr>
            <a:r>
              <a:rPr lang="en-GB" sz="1400" b="0" i="0" u="none" strike="noStrike" cap="none">
                <a:solidFill>
                  <a:schemeClr val="lt1"/>
                </a:solidFill>
                <a:latin typeface="Arial"/>
                <a:ea typeface="Arial"/>
                <a:cs typeface="Arial"/>
                <a:sym typeface="Arial"/>
              </a:rPr>
              <a:t>Hanqing Gong</a:t>
            </a:r>
          </a:p>
        </p:txBody>
      </p:sp>
      <p:sp>
        <p:nvSpPr>
          <p:cNvPr id="35" name="Shape 35"/>
          <p:cNvSpPr/>
          <p:nvPr/>
        </p:nvSpPr>
        <p:spPr>
          <a:xfrm>
            <a:off x="7596335" y="4675041"/>
            <a:ext cx="1132039" cy="307777"/>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GB" sz="1400" b="0" i="0" u="none" strike="noStrike" cap="none">
                <a:solidFill>
                  <a:schemeClr val="lt1"/>
                </a:solidFill>
                <a:latin typeface="Arial"/>
                <a:ea typeface="Arial"/>
                <a:cs typeface="Arial"/>
                <a:sym typeface="Arial"/>
              </a:rPr>
              <a:t>Lichong Xia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Shape 40"/>
          <p:cNvSpPr txBox="1">
            <a:spLocks noGrp="1"/>
          </p:cNvSpPr>
          <p:nvPr>
            <p:ph type="title"/>
          </p:nvPr>
        </p:nvSpPr>
        <p:spPr>
          <a:xfrm>
            <a:off x="147709" y="0"/>
            <a:ext cx="8996289" cy="8844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Agenda</a:t>
            </a:r>
          </a:p>
        </p:txBody>
      </p:sp>
      <p:sp>
        <p:nvSpPr>
          <p:cNvPr id="41" name="Shape 41"/>
          <p:cNvSpPr txBox="1">
            <a:spLocks noGrp="1"/>
          </p:cNvSpPr>
          <p:nvPr>
            <p:ph type="body" idx="2"/>
          </p:nvPr>
        </p:nvSpPr>
        <p:spPr>
          <a:xfrm>
            <a:off x="405875" y="1211825"/>
            <a:ext cx="8496899" cy="3448500"/>
          </a:xfrm>
          <a:prstGeom prst="rect">
            <a:avLst/>
          </a:prstGeom>
          <a:noFill/>
          <a:ln>
            <a:noFill/>
          </a:ln>
        </p:spPr>
        <p:txBody>
          <a:bodyPr lIns="91425" tIns="91425" rIns="91425" bIns="91425" anchor="t" anchorCtr="0">
            <a:noAutofit/>
          </a:bodyPr>
          <a:lstStyle/>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Introduction</a:t>
            </a:r>
          </a:p>
          <a:p>
            <a:pPr marL="0" marR="0" lvl="0" indent="0" algn="l" rtl="0">
              <a:lnSpc>
                <a:spcPct val="100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Executive Summary</a:t>
            </a:r>
          </a:p>
          <a:p>
            <a:pPr marL="0" marR="0" lvl="0" indent="0" algn="l" rtl="0">
              <a:lnSpc>
                <a:spcPct val="100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Problem Statement</a:t>
            </a:r>
          </a:p>
          <a:p>
            <a:pPr marL="0" marR="0" lvl="0" indent="0" algn="l" rtl="0">
              <a:lnSpc>
                <a:spcPct val="100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Motivation</a:t>
            </a:r>
          </a:p>
          <a:p>
            <a:pPr marL="0" marR="0" lvl="0" indent="0" algn="l" rtl="0">
              <a:lnSpc>
                <a:spcPct val="100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Data</a:t>
            </a:r>
          </a:p>
          <a:p>
            <a:pPr marL="0" marR="0" lvl="0" indent="0" algn="l" rtl="0">
              <a:lnSpc>
                <a:spcPct val="100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Problem</a:t>
            </a:r>
          </a:p>
          <a:p>
            <a:pPr marL="0" marR="0" lvl="0" indent="0" algn="l" rtl="0">
              <a:lnSpc>
                <a:spcPct val="100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Recommendations</a:t>
            </a:r>
          </a:p>
          <a:p>
            <a:pPr marL="0" marR="0" lvl="0" indent="0" algn="l" rtl="0">
              <a:lnSpc>
                <a:spcPct val="100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Insight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Shape 46"/>
          <p:cNvSpPr txBox="1">
            <a:spLocks noGrp="1"/>
          </p:cNvSpPr>
          <p:nvPr>
            <p:ph type="body" idx="1"/>
          </p:nvPr>
        </p:nvSpPr>
        <p:spPr>
          <a:xfrm>
            <a:off x="395536" y="987574"/>
            <a:ext cx="8496899" cy="46050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2000" b="1" i="0" u="none" strike="noStrike" cap="none">
                <a:solidFill>
                  <a:srgbClr val="3F3F3F"/>
                </a:solidFill>
                <a:latin typeface="Arial"/>
                <a:ea typeface="Arial"/>
                <a:cs typeface="Arial"/>
                <a:sym typeface="Arial"/>
              </a:rPr>
              <a:t>Real Estate Company </a:t>
            </a:r>
          </a:p>
        </p:txBody>
      </p:sp>
      <p:sp>
        <p:nvSpPr>
          <p:cNvPr id="47" name="Shape 47"/>
          <p:cNvSpPr txBox="1">
            <a:spLocks noGrp="1"/>
          </p:cNvSpPr>
          <p:nvPr>
            <p:ph type="body" idx="2"/>
          </p:nvPr>
        </p:nvSpPr>
        <p:spPr>
          <a:xfrm>
            <a:off x="405875" y="1664250"/>
            <a:ext cx="8496899" cy="2800199"/>
          </a:xfrm>
          <a:prstGeom prst="rect">
            <a:avLst/>
          </a:prstGeom>
          <a:noFill/>
          <a:ln>
            <a:noFill/>
          </a:ln>
        </p:spPr>
        <p:txBody>
          <a:bodyPr lIns="396000" tIns="45700" rIns="91425" bIns="45700" anchor="t"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1400" b="0" i="0" u="none" strike="noStrike" cap="none">
                <a:solidFill>
                  <a:srgbClr val="3F3F3F"/>
                </a:solidFill>
                <a:latin typeface="Arial"/>
                <a:ea typeface="Arial"/>
                <a:cs typeface="Arial"/>
                <a:sym typeface="Arial"/>
              </a:rPr>
              <a:t>Would you like to live in a place with high air quality?</a:t>
            </a:r>
          </a:p>
          <a:p>
            <a:pPr marL="0" marR="0" lvl="0" indent="0" algn="l" rtl="0">
              <a:lnSpc>
                <a:spcPct val="100000"/>
              </a:lnSpc>
              <a:spcBef>
                <a:spcPts val="28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280"/>
              </a:spcBef>
              <a:spcAft>
                <a:spcPts val="0"/>
              </a:spcAft>
              <a:buClr>
                <a:srgbClr val="3F3F3F"/>
              </a:buClr>
              <a:buSzPct val="25000"/>
              <a:buFont typeface="Arial"/>
              <a:buNone/>
            </a:pPr>
            <a:r>
              <a:rPr lang="en-GB" sz="1400" b="0" i="0" u="none" strike="noStrike" cap="none">
                <a:solidFill>
                  <a:srgbClr val="3F3F3F"/>
                </a:solidFill>
                <a:latin typeface="Arial"/>
                <a:ea typeface="Arial"/>
                <a:cs typeface="Arial"/>
                <a:sym typeface="Arial"/>
              </a:rPr>
              <a:t>Would you prefer a place where a car is not needed?</a:t>
            </a:r>
          </a:p>
          <a:p>
            <a:pPr marL="0" marR="0" lvl="0" indent="0" algn="l" rtl="0">
              <a:lnSpc>
                <a:spcPct val="100000"/>
              </a:lnSpc>
              <a:spcBef>
                <a:spcPts val="28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280"/>
              </a:spcBef>
              <a:spcAft>
                <a:spcPts val="0"/>
              </a:spcAft>
              <a:buClr>
                <a:srgbClr val="3F3F3F"/>
              </a:buClr>
              <a:buSzPct val="25000"/>
              <a:buFont typeface="Arial"/>
              <a:buNone/>
            </a:pPr>
            <a:r>
              <a:rPr lang="en-GB" sz="1400" b="0" i="0" u="none" strike="noStrike" cap="none">
                <a:solidFill>
                  <a:srgbClr val="3F3F3F"/>
                </a:solidFill>
                <a:latin typeface="Arial"/>
                <a:ea typeface="Arial"/>
                <a:cs typeface="Arial"/>
                <a:sym typeface="Arial"/>
              </a:rPr>
              <a:t>How about a place with low taxes?</a:t>
            </a:r>
          </a:p>
          <a:p>
            <a:pPr marL="0" marR="0" lvl="0" indent="0" algn="l" rtl="0">
              <a:lnSpc>
                <a:spcPct val="100000"/>
              </a:lnSpc>
              <a:spcBef>
                <a:spcPts val="28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28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ctr" rtl="0">
              <a:lnSpc>
                <a:spcPct val="100000"/>
              </a:lnSpc>
              <a:spcBef>
                <a:spcPts val="280"/>
              </a:spcBef>
              <a:spcAft>
                <a:spcPts val="0"/>
              </a:spcAft>
              <a:buClr>
                <a:srgbClr val="3F3F3F"/>
              </a:buClr>
              <a:buSzPct val="25000"/>
              <a:buFont typeface="Arial"/>
              <a:buNone/>
            </a:pPr>
            <a:r>
              <a:rPr lang="en-GB" sz="1400" b="1" i="1" u="none" strike="noStrike" cap="none">
                <a:solidFill>
                  <a:srgbClr val="3F3F3F"/>
                </a:solidFill>
                <a:latin typeface="Arial"/>
                <a:ea typeface="Arial"/>
                <a:cs typeface="Arial"/>
                <a:sym typeface="Arial"/>
              </a:rPr>
              <a:t>We specialize in finding your dream location!</a:t>
            </a:r>
          </a:p>
        </p:txBody>
      </p:sp>
      <p:sp>
        <p:nvSpPr>
          <p:cNvPr id="48" name="Shape 48"/>
          <p:cNvSpPr txBox="1">
            <a:spLocks noGrp="1"/>
          </p:cNvSpPr>
          <p:nvPr>
            <p:ph type="title"/>
          </p:nvPr>
        </p:nvSpPr>
        <p:spPr>
          <a:xfrm>
            <a:off x="0" y="0"/>
            <a:ext cx="9144000" cy="88440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 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Shape 53"/>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Executive Summary</a:t>
            </a:r>
          </a:p>
        </p:txBody>
      </p:sp>
      <p:sp>
        <p:nvSpPr>
          <p:cNvPr id="54" name="Shape 54"/>
          <p:cNvSpPr txBox="1">
            <a:spLocks noGrp="1"/>
          </p:cNvSpPr>
          <p:nvPr>
            <p:ph type="body" idx="2"/>
          </p:nvPr>
        </p:nvSpPr>
        <p:spPr>
          <a:xfrm>
            <a:off x="405880" y="1475718"/>
            <a:ext cx="8496900" cy="2995800"/>
          </a:xfrm>
          <a:prstGeom prst="rect">
            <a:avLst/>
          </a:prstGeom>
          <a:noFill/>
          <a:ln>
            <a:noFill/>
          </a:ln>
        </p:spPr>
        <p:txBody>
          <a:bodyPr lIns="396000" tIns="45700" rIns="91425" bIns="45700" anchor="t" anchorCtr="0">
            <a:noAutofit/>
          </a:bodyPr>
          <a:lstStyle/>
          <a:p>
            <a:pPr marL="457200" marR="0" lvl="0" indent="-228600" algn="l" rtl="0">
              <a:lnSpc>
                <a:spcPct val="100000"/>
              </a:lnSpc>
              <a:spcBef>
                <a:spcPts val="0"/>
              </a:spcBef>
              <a:spcAft>
                <a:spcPts val="0"/>
              </a:spcAft>
              <a:buClr>
                <a:srgbClr val="3F3F3F"/>
              </a:buClr>
              <a:buSzPct val="100000"/>
              <a:buFont typeface="Arial"/>
              <a:buChar char="●"/>
            </a:pPr>
            <a:r>
              <a:rPr lang="en-GB" b="1"/>
              <a:t>Who?</a:t>
            </a:r>
          </a:p>
          <a:p>
            <a:pPr marR="0" lvl="1" algn="l" rtl="0">
              <a:lnSpc>
                <a:spcPct val="100000"/>
              </a:lnSpc>
              <a:spcBef>
                <a:spcPts val="0"/>
              </a:spcBef>
              <a:spcAft>
                <a:spcPts val="0"/>
              </a:spcAft>
              <a:buClr>
                <a:srgbClr val="3F3F3F"/>
              </a:buClr>
              <a:buSzPct val="100000"/>
              <a:buFont typeface="Arial"/>
            </a:pPr>
            <a:r>
              <a:rPr lang="en-GB" sz="1400" b="0" i="0" u="none" strike="noStrike" cap="none">
                <a:solidFill>
                  <a:srgbClr val="3F3F3F"/>
                </a:solidFill>
                <a:latin typeface="Arial"/>
                <a:ea typeface="Arial"/>
                <a:cs typeface="Arial"/>
                <a:sym typeface="Arial"/>
              </a:rPr>
              <a:t>Real estate compan</a:t>
            </a:r>
            <a:r>
              <a:rPr lang="en-GB" sz="1400">
                <a:solidFill>
                  <a:srgbClr val="3F3F3F"/>
                </a:solidFill>
              </a:rPr>
              <a:t>y</a:t>
            </a:r>
            <a:r>
              <a:rPr lang="en-GB" sz="1400" b="0" i="0" u="none" strike="noStrike" cap="none">
                <a:solidFill>
                  <a:srgbClr val="3F3F3F"/>
                </a:solidFill>
                <a:latin typeface="Arial"/>
                <a:ea typeface="Arial"/>
                <a:cs typeface="Arial"/>
                <a:sym typeface="Arial"/>
              </a:rPr>
              <a:t> that ha</a:t>
            </a:r>
            <a:r>
              <a:rPr lang="en-GB" sz="1400">
                <a:solidFill>
                  <a:srgbClr val="3F3F3F"/>
                </a:solidFill>
              </a:rPr>
              <a:t>s</a:t>
            </a:r>
            <a:r>
              <a:rPr lang="en-GB" sz="1400" b="0" i="0" u="none" strike="noStrike" cap="none">
                <a:solidFill>
                  <a:srgbClr val="3F3F3F"/>
                </a:solidFill>
                <a:latin typeface="Arial"/>
                <a:ea typeface="Arial"/>
                <a:cs typeface="Arial"/>
                <a:sym typeface="Arial"/>
              </a:rPr>
              <a:t> environmentally conscious clients</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b="1"/>
              <a:t>What?</a:t>
            </a:r>
          </a:p>
          <a:p>
            <a:pPr marR="0" lvl="1" algn="l" rtl="0">
              <a:lnSpc>
                <a:spcPct val="100000"/>
              </a:lnSpc>
              <a:spcBef>
                <a:spcPts val="0"/>
              </a:spcBef>
              <a:spcAft>
                <a:spcPts val="0"/>
              </a:spcAft>
              <a:buClr>
                <a:srgbClr val="3F3F3F"/>
              </a:buClr>
              <a:buSzPct val="100000"/>
              <a:buFont typeface="Arial"/>
            </a:pPr>
            <a:r>
              <a:rPr lang="en-GB" sz="1400" b="0" i="0" u="none" strike="noStrike" cap="none">
                <a:solidFill>
                  <a:srgbClr val="3F3F3F"/>
                </a:solidFill>
                <a:latin typeface="Arial"/>
                <a:ea typeface="Arial"/>
                <a:cs typeface="Arial"/>
                <a:sym typeface="Arial"/>
              </a:rPr>
              <a:t>Seeking optimal way to locate housing areas for clients</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b="1"/>
              <a:t>Why?</a:t>
            </a:r>
          </a:p>
          <a:p>
            <a:pPr marR="0" lvl="1" algn="l" rtl="0">
              <a:lnSpc>
                <a:spcPct val="100000"/>
              </a:lnSpc>
              <a:spcBef>
                <a:spcPts val="0"/>
              </a:spcBef>
              <a:spcAft>
                <a:spcPts val="0"/>
              </a:spcAft>
              <a:buClr>
                <a:srgbClr val="3F3F3F"/>
              </a:buClr>
              <a:buSzPct val="100000"/>
              <a:buFont typeface="Arial"/>
            </a:pPr>
            <a:r>
              <a:rPr lang="en-GB" sz="1400" b="0" i="0" u="none" strike="noStrike" cap="none">
                <a:solidFill>
                  <a:srgbClr val="3F3F3F"/>
                </a:solidFill>
                <a:latin typeface="Arial"/>
                <a:ea typeface="Arial"/>
                <a:cs typeface="Arial"/>
                <a:sym typeface="Arial"/>
              </a:rPr>
              <a:t>Home buyers do not have sufficient information when purchasing a home</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b="1"/>
              <a:t>How?</a:t>
            </a:r>
          </a:p>
          <a:p>
            <a:pPr marR="0" lvl="1" algn="l" rtl="0">
              <a:lnSpc>
                <a:spcPct val="100000"/>
              </a:lnSpc>
              <a:spcBef>
                <a:spcPts val="0"/>
              </a:spcBef>
              <a:spcAft>
                <a:spcPts val="0"/>
              </a:spcAft>
              <a:buClr>
                <a:srgbClr val="3F3F3F"/>
              </a:buClr>
              <a:buSzPct val="100000"/>
              <a:buFont typeface="Arial"/>
            </a:pPr>
            <a:r>
              <a:rPr lang="en-GB" sz="1400" b="0" i="0" u="none" strike="noStrike" cap="none">
                <a:solidFill>
                  <a:srgbClr val="3F3F3F"/>
                </a:solidFill>
                <a:latin typeface="Arial"/>
                <a:ea typeface="Arial"/>
                <a:cs typeface="Arial"/>
                <a:sym typeface="Arial"/>
              </a:rPr>
              <a:t>Solutions found through advanced quantitative optimization techniques</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Problem Statement</a:t>
            </a:r>
          </a:p>
        </p:txBody>
      </p:sp>
      <p:sp>
        <p:nvSpPr>
          <p:cNvPr id="60" name="Shape 60"/>
          <p:cNvSpPr txBox="1">
            <a:spLocks noGrp="1"/>
          </p:cNvSpPr>
          <p:nvPr>
            <p:ph type="body" idx="1"/>
          </p:nvPr>
        </p:nvSpPr>
        <p:spPr>
          <a:xfrm>
            <a:off x="395525" y="987575"/>
            <a:ext cx="8496899" cy="938399"/>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2000" b="0" i="0" u="none" strike="noStrike" cap="none">
                <a:solidFill>
                  <a:srgbClr val="3F3F3F"/>
                </a:solidFill>
                <a:latin typeface="Arial"/>
                <a:ea typeface="Arial"/>
                <a:cs typeface="Arial"/>
                <a:sym typeface="Arial"/>
              </a:rPr>
              <a:t>Locate the 10 best housing areas in the United States </a:t>
            </a:r>
          </a:p>
          <a:p>
            <a:pPr marL="0" marR="0" lvl="0" indent="0" algn="l" rtl="0">
              <a:lnSpc>
                <a:spcPct val="100000"/>
              </a:lnSpc>
              <a:spcBef>
                <a:spcPts val="0"/>
              </a:spcBef>
              <a:spcAft>
                <a:spcPts val="0"/>
              </a:spcAft>
              <a:buClr>
                <a:srgbClr val="3F3F3F"/>
              </a:buClr>
              <a:buSzPct val="25000"/>
              <a:buFont typeface="Arial"/>
              <a:buNone/>
            </a:pPr>
            <a:endParaRPr/>
          </a:p>
          <a:p>
            <a:pPr marL="0" marR="0" lvl="0" indent="0" algn="l" rtl="0">
              <a:lnSpc>
                <a:spcPct val="100000"/>
              </a:lnSpc>
              <a:spcBef>
                <a:spcPts val="0"/>
              </a:spcBef>
              <a:spcAft>
                <a:spcPts val="0"/>
              </a:spcAft>
              <a:buClr>
                <a:srgbClr val="3F3F3F"/>
              </a:buClr>
              <a:buSzPct val="25000"/>
              <a:buFont typeface="Arial"/>
              <a:buNone/>
            </a:pPr>
            <a:r>
              <a:rPr lang="en-GB"/>
              <a:t>Factors</a:t>
            </a:r>
            <a:r>
              <a:rPr lang="en-GB" sz="2000" b="0" i="0" u="none" strike="noStrike" cap="none">
                <a:solidFill>
                  <a:srgbClr val="3F3F3F"/>
                </a:solidFill>
                <a:latin typeface="Arial"/>
                <a:ea typeface="Arial"/>
                <a:cs typeface="Arial"/>
                <a:sym typeface="Arial"/>
              </a:rPr>
              <a:t>:</a:t>
            </a:r>
          </a:p>
        </p:txBody>
      </p:sp>
      <p:sp>
        <p:nvSpPr>
          <p:cNvPr id="61" name="Shape 61"/>
          <p:cNvSpPr txBox="1">
            <a:spLocks noGrp="1"/>
          </p:cNvSpPr>
          <p:nvPr>
            <p:ph type="body" idx="2"/>
          </p:nvPr>
        </p:nvSpPr>
        <p:spPr>
          <a:xfrm>
            <a:off x="405875" y="2148700"/>
            <a:ext cx="3668700" cy="2511300"/>
          </a:xfrm>
          <a:prstGeom prst="rect">
            <a:avLst/>
          </a:prstGeom>
          <a:noFill/>
          <a:ln>
            <a:noFill/>
          </a:ln>
        </p:spPr>
        <p:txBody>
          <a:bodyPr lIns="396000" tIns="45700" rIns="91425" bIns="45700" anchor="t" anchorCtr="0">
            <a:noAutofit/>
          </a:bodyPr>
          <a:lstStyle/>
          <a:p>
            <a:pPr marL="457200" marR="0" lvl="0" indent="-342900" algn="l" rtl="0">
              <a:lnSpc>
                <a:spcPct val="100000"/>
              </a:lnSpc>
              <a:spcBef>
                <a:spcPts val="0"/>
              </a:spcBef>
              <a:spcAft>
                <a:spcPts val="0"/>
              </a:spcAft>
              <a:buClr>
                <a:srgbClr val="3F3F3F"/>
              </a:buClr>
              <a:buSzPct val="100000"/>
              <a:buFont typeface="Arial"/>
              <a:buChar char="●"/>
            </a:pPr>
            <a:r>
              <a:rPr lang="en-GB" sz="1400" b="1" i="0" strike="noStrike" cap="none">
                <a:solidFill>
                  <a:srgbClr val="3F3F3F"/>
                </a:solidFill>
                <a:latin typeface="Arial"/>
                <a:ea typeface="Arial"/>
                <a:cs typeface="Arial"/>
                <a:sym typeface="Arial"/>
              </a:rPr>
              <a:t>CO2 Levels</a:t>
            </a:r>
          </a:p>
          <a:p>
            <a:pPr marL="11430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3429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Housing Values</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3429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Income Per Household</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3429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Elevation</a:t>
            </a:r>
          </a:p>
        </p:txBody>
      </p:sp>
      <p:sp>
        <p:nvSpPr>
          <p:cNvPr id="62" name="Shape 62"/>
          <p:cNvSpPr txBox="1"/>
          <p:nvPr/>
        </p:nvSpPr>
        <p:spPr>
          <a:xfrm>
            <a:off x="4731575" y="2081900"/>
            <a:ext cx="3228600" cy="2355599"/>
          </a:xfrm>
          <a:prstGeom prst="rect">
            <a:avLst/>
          </a:prstGeom>
          <a:noFill/>
          <a:ln>
            <a:noFill/>
          </a:ln>
        </p:spPr>
        <p:txBody>
          <a:bodyPr lIns="91425" tIns="91425" rIns="91425" bIns="91425" anchor="t" anchorCtr="0">
            <a:noAutofit/>
          </a:bodyPr>
          <a:lstStyle/>
          <a:p>
            <a:pPr marL="457200" marR="0" lvl="0" indent="-3429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Income Tax</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Property Tax</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Vehicle Miles</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457200" marR="0" lvl="0" indent="-3429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Population Density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Shape 67"/>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Motivation</a:t>
            </a:r>
          </a:p>
        </p:txBody>
      </p:sp>
      <p:sp>
        <p:nvSpPr>
          <p:cNvPr id="68" name="Shape 68"/>
          <p:cNvSpPr txBox="1">
            <a:spLocks noGrp="1"/>
          </p:cNvSpPr>
          <p:nvPr>
            <p:ph type="body" idx="1"/>
          </p:nvPr>
        </p:nvSpPr>
        <p:spPr>
          <a:xfrm>
            <a:off x="395536" y="987574"/>
            <a:ext cx="8496944" cy="460647"/>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2000" b="0" i="0" u="none" strike="noStrike" cap="none">
                <a:solidFill>
                  <a:srgbClr val="3F3F3F"/>
                </a:solidFill>
                <a:latin typeface="Arial"/>
                <a:ea typeface="Arial"/>
                <a:cs typeface="Arial"/>
                <a:sym typeface="Arial"/>
              </a:rPr>
              <a:t>Business perspective</a:t>
            </a:r>
          </a:p>
        </p:txBody>
      </p:sp>
      <p:sp>
        <p:nvSpPr>
          <p:cNvPr id="69" name="Shape 69"/>
          <p:cNvSpPr txBox="1">
            <a:spLocks noGrp="1"/>
          </p:cNvSpPr>
          <p:nvPr>
            <p:ph type="body" idx="2"/>
          </p:nvPr>
        </p:nvSpPr>
        <p:spPr>
          <a:xfrm>
            <a:off x="262250" y="1646274"/>
            <a:ext cx="8496899" cy="2743199"/>
          </a:xfrm>
          <a:prstGeom prst="rect">
            <a:avLst/>
          </a:prstGeom>
          <a:noFill/>
          <a:ln>
            <a:noFill/>
          </a:ln>
        </p:spPr>
        <p:txBody>
          <a:bodyPr lIns="396000" tIns="45700" rIns="91425" bIns="45700" anchor="t" anchorCtr="0">
            <a:noAutofit/>
          </a:bodyPr>
          <a:lstStyle/>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Speedier housing search process</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More details for customer</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457200" marR="0" lvl="0" indent="-228600" algn="l" rtl="0">
              <a:lnSpc>
                <a:spcPct val="100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Easily adjust concerns to allow for new location options</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Clr>
                <a:schemeClr val="dk1"/>
              </a:buClr>
              <a:buSzPct val="25000"/>
              <a:buFont typeface="Arial"/>
              <a:buNone/>
            </a:pPr>
            <a:r>
              <a:rPr lang="en-GB" sz="1400" b="1" i="1" u="none" strike="noStrike" cap="none">
                <a:solidFill>
                  <a:srgbClr val="3F3F3F"/>
                </a:solidFill>
                <a:latin typeface="Arial"/>
                <a:ea typeface="Arial"/>
                <a:cs typeface="Arial"/>
                <a:sym typeface="Arial"/>
              </a:rPr>
              <a:t>Providing these features will increase revenue</a:t>
            </a:r>
          </a:p>
          <a:p>
            <a:pPr marL="0" marR="0" lvl="0" indent="0" algn="l" rtl="0">
              <a:lnSpc>
                <a:spcPct val="100000"/>
              </a:lnSpc>
              <a:spcBef>
                <a:spcPts val="0"/>
              </a:spcBef>
              <a:spcAft>
                <a:spcPts val="0"/>
              </a:spcAft>
              <a:buClr>
                <a:schemeClr val="dk1"/>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Shape 74"/>
          <p:cNvSpPr txBox="1">
            <a:spLocks noGrp="1"/>
          </p:cNvSpPr>
          <p:nvPr>
            <p:ph type="title"/>
          </p:nvPr>
        </p:nvSpPr>
        <p:spPr>
          <a:xfrm>
            <a:off x="189914" y="0"/>
            <a:ext cx="8954086"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Data Sources</a:t>
            </a:r>
          </a:p>
        </p:txBody>
      </p:sp>
      <p:sp>
        <p:nvSpPr>
          <p:cNvPr id="75" name="Shape 75"/>
          <p:cNvSpPr txBox="1">
            <a:spLocks noGrp="1"/>
          </p:cNvSpPr>
          <p:nvPr>
            <p:ph type="body" idx="2"/>
          </p:nvPr>
        </p:nvSpPr>
        <p:spPr>
          <a:xfrm>
            <a:off x="647100" y="1906801"/>
            <a:ext cx="8496899" cy="3234898"/>
          </a:xfrm>
          <a:prstGeom prst="rect">
            <a:avLst/>
          </a:prstGeom>
          <a:noFill/>
          <a:ln>
            <a:noFill/>
          </a:ln>
        </p:spPr>
        <p:txBody>
          <a:bodyPr lIns="396000" tIns="45700" rIns="91425" bIns="45700" anchor="t" anchorCtr="0">
            <a:noAutofit/>
          </a:bodyPr>
          <a:lstStyle/>
          <a:p>
            <a:pPr marL="457200" marR="0" lvl="0" indent="-317500" algn="l" rtl="0">
              <a:lnSpc>
                <a:spcPct val="100000"/>
              </a:lnSpc>
              <a:spcBef>
                <a:spcPts val="0"/>
              </a:spcBef>
              <a:spcAft>
                <a:spcPts val="0"/>
              </a:spcAft>
              <a:buClr>
                <a:srgbClr val="3F3F3F"/>
              </a:buClr>
              <a:buSzPct val="100000"/>
              <a:buFont typeface="Arial"/>
              <a:buChar char="●"/>
            </a:pPr>
            <a:r>
              <a:rPr lang="en-GB" sz="1600" b="0" i="0" u="none" strike="noStrike" cap="none">
                <a:solidFill>
                  <a:srgbClr val="3F3F3F"/>
                </a:solidFill>
                <a:latin typeface="Arial"/>
                <a:ea typeface="Arial"/>
                <a:cs typeface="Arial"/>
                <a:sym typeface="Arial"/>
              </a:rPr>
              <a:t>UC Berkeley Research (CoolClimate</a:t>
            </a:r>
            <a:r>
              <a:rPr lang="en-GB" sz="1600"/>
              <a:t>)</a:t>
            </a:r>
          </a:p>
          <a:p>
            <a:pPr marL="914400" marR="0" lvl="1" indent="-317500" algn="l" rtl="0">
              <a:lnSpc>
                <a:spcPct val="100000"/>
              </a:lnSpc>
              <a:spcBef>
                <a:spcPts val="0"/>
              </a:spcBef>
              <a:spcAft>
                <a:spcPts val="0"/>
              </a:spcAft>
              <a:buClr>
                <a:schemeClr val="dk1"/>
              </a:buClr>
              <a:buSzPct val="100000"/>
              <a:buFont typeface="Arial"/>
              <a:buChar char="–"/>
            </a:pPr>
            <a:r>
              <a:rPr lang="en-GB" sz="1600" b="0" i="0" u="none" strike="noStrike" cap="none">
                <a:solidFill>
                  <a:srgbClr val="3F3F3F"/>
                </a:solidFill>
                <a:latin typeface="Arial"/>
                <a:ea typeface="Arial"/>
                <a:cs typeface="Arial"/>
                <a:sym typeface="Arial"/>
              </a:rPr>
              <a:t>Mapped the average CO2 amount by zip code</a:t>
            </a:r>
          </a:p>
          <a:p>
            <a:pPr marL="914400" marR="0" lvl="1" indent="-317500" algn="l" rtl="0">
              <a:lnSpc>
                <a:spcPct val="100000"/>
              </a:lnSpc>
              <a:spcBef>
                <a:spcPts val="0"/>
              </a:spcBef>
              <a:spcAft>
                <a:spcPts val="0"/>
              </a:spcAft>
              <a:buClr>
                <a:schemeClr val="dk1"/>
              </a:buClr>
              <a:buSzPct val="100000"/>
              <a:buFont typeface="Arial"/>
              <a:buChar char="–"/>
            </a:pPr>
            <a:r>
              <a:rPr lang="en-GB" sz="1600" b="0" i="0" u="none" strike="noStrike" cap="none">
                <a:solidFill>
                  <a:srgbClr val="3F3F3F"/>
                </a:solidFill>
                <a:latin typeface="Arial"/>
                <a:ea typeface="Arial"/>
                <a:cs typeface="Arial"/>
                <a:sym typeface="Arial"/>
              </a:rPr>
              <a:t>Study findings</a:t>
            </a:r>
          </a:p>
          <a:p>
            <a:pPr marL="1371600" marR="0" lvl="2" indent="-317500" algn="l" rtl="0">
              <a:lnSpc>
                <a:spcPct val="100000"/>
              </a:lnSpc>
              <a:spcBef>
                <a:spcPts val="0"/>
              </a:spcBef>
              <a:spcAft>
                <a:spcPts val="0"/>
              </a:spcAft>
              <a:buClr>
                <a:schemeClr val="dk1"/>
              </a:buClr>
              <a:buSzPct val="100000"/>
              <a:buFont typeface="Arial"/>
              <a:buChar char="•"/>
            </a:pPr>
            <a:r>
              <a:rPr lang="en-GB" sz="1600" b="0" i="0" u="none" strike="noStrike" cap="none">
                <a:solidFill>
                  <a:srgbClr val="3F3F3F"/>
                </a:solidFill>
                <a:latin typeface="Arial"/>
                <a:ea typeface="Arial"/>
                <a:cs typeface="Arial"/>
                <a:sym typeface="Arial"/>
              </a:rPr>
              <a:t>Areas with high/low CO2 Levels</a:t>
            </a:r>
          </a:p>
          <a:p>
            <a:pPr marL="914400" marR="0" lvl="0" indent="0" algn="l" rtl="0">
              <a:lnSpc>
                <a:spcPct val="100000"/>
              </a:lnSpc>
              <a:spcBef>
                <a:spcPts val="0"/>
              </a:spcBef>
              <a:spcAft>
                <a:spcPts val="0"/>
              </a:spcAft>
              <a:buClr>
                <a:srgbClr val="3F3F3F"/>
              </a:buClr>
              <a:buSzPct val="25000"/>
              <a:buFont typeface="Arial"/>
              <a:buNone/>
            </a:pPr>
            <a:endParaRPr sz="1600" b="0" i="0" u="none" strike="noStrike" cap="none">
              <a:solidFill>
                <a:srgbClr val="3F3F3F"/>
              </a:solidFill>
              <a:latin typeface="Arial"/>
              <a:ea typeface="Arial"/>
              <a:cs typeface="Arial"/>
              <a:sym typeface="Arial"/>
            </a:endParaRPr>
          </a:p>
          <a:p>
            <a:pPr marL="457200" marR="0" lvl="0" indent="-317500" algn="l" rtl="0">
              <a:lnSpc>
                <a:spcPct val="100000"/>
              </a:lnSpc>
              <a:spcBef>
                <a:spcPts val="0"/>
              </a:spcBef>
              <a:spcAft>
                <a:spcPts val="0"/>
              </a:spcAft>
              <a:buClr>
                <a:srgbClr val="3F3F3F"/>
              </a:buClr>
              <a:buSzPct val="100000"/>
              <a:buFont typeface="Arial"/>
              <a:buChar char="●"/>
            </a:pPr>
            <a:r>
              <a:rPr lang="en-GB" sz="1600" b="0" i="0" u="none" strike="noStrike" cap="none">
                <a:solidFill>
                  <a:srgbClr val="3F3F3F"/>
                </a:solidFill>
                <a:latin typeface="Arial"/>
                <a:ea typeface="Arial"/>
                <a:cs typeface="Arial"/>
                <a:sym typeface="Arial"/>
              </a:rPr>
              <a:t>State Tax Rates</a:t>
            </a:r>
          </a:p>
          <a:p>
            <a:pPr marR="0" lvl="0" algn="l" rtl="0">
              <a:lnSpc>
                <a:spcPct val="100000"/>
              </a:lnSpc>
              <a:spcBef>
                <a:spcPts val="0"/>
              </a:spcBef>
              <a:spcAft>
                <a:spcPts val="0"/>
              </a:spcAft>
              <a:buNone/>
            </a:pPr>
            <a:endParaRPr sz="1600"/>
          </a:p>
          <a:p>
            <a:pPr marL="457200" marR="0" lvl="0" indent="-317500" algn="l" rtl="0">
              <a:lnSpc>
                <a:spcPct val="100000"/>
              </a:lnSpc>
              <a:spcBef>
                <a:spcPts val="0"/>
              </a:spcBef>
              <a:spcAft>
                <a:spcPts val="0"/>
              </a:spcAft>
              <a:buClr>
                <a:srgbClr val="3F3F3F"/>
              </a:buClr>
              <a:buSzPct val="100000"/>
              <a:buFont typeface="Arial"/>
              <a:buChar char="●"/>
            </a:pPr>
            <a:r>
              <a:rPr lang="en-GB" sz="1600" b="0" i="0" u="none" strike="noStrike" cap="none">
                <a:solidFill>
                  <a:srgbClr val="3F3F3F"/>
                </a:solidFill>
                <a:latin typeface="Arial"/>
                <a:ea typeface="Arial"/>
                <a:cs typeface="Arial"/>
                <a:sym typeface="Arial"/>
              </a:rPr>
              <a:t>Property Tax Averages</a:t>
            </a:r>
          </a:p>
          <a:p>
            <a:pPr marL="0" marR="0" lvl="0" indent="0" algn="l" rtl="0">
              <a:lnSpc>
                <a:spcPct val="100000"/>
              </a:lnSpc>
              <a:spcBef>
                <a:spcPts val="0"/>
              </a:spcBef>
              <a:spcAft>
                <a:spcPts val="0"/>
              </a:spcAft>
              <a:buClr>
                <a:srgbClr val="3F3F3F"/>
              </a:buClr>
              <a:buSzPct val="25000"/>
              <a:buFont typeface="Arial"/>
              <a:buNone/>
            </a:pPr>
            <a:endParaRPr sz="16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6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1600" b="0" i="0" u="none" strike="noStrike" cap="none">
              <a:solidFill>
                <a:srgbClr val="3F3F3F"/>
              </a:solidFill>
              <a:latin typeface="Arial"/>
              <a:ea typeface="Arial"/>
              <a:cs typeface="Arial"/>
              <a:sym typeface="Arial"/>
            </a:endParaRPr>
          </a:p>
        </p:txBody>
      </p:sp>
      <p:sp>
        <p:nvSpPr>
          <p:cNvPr id="76" name="Shape 76"/>
          <p:cNvSpPr txBox="1">
            <a:spLocks noGrp="1"/>
          </p:cNvSpPr>
          <p:nvPr>
            <p:ph type="body" idx="1"/>
          </p:nvPr>
        </p:nvSpPr>
        <p:spPr>
          <a:xfrm>
            <a:off x="258369" y="1056729"/>
            <a:ext cx="8496944" cy="460647"/>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2000" b="0" i="0" u="none" strike="noStrike" cap="none">
                <a:solidFill>
                  <a:srgbClr val="3F3F3F"/>
                </a:solidFill>
                <a:latin typeface="Arial"/>
                <a:ea typeface="Arial"/>
                <a:cs typeface="Arial"/>
                <a:sym typeface="Arial"/>
              </a:rPr>
              <a:t>Data gathered from the following sources: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Shape 81"/>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Data Pre-Processing</a:t>
            </a:r>
          </a:p>
        </p:txBody>
      </p:sp>
      <p:sp>
        <p:nvSpPr>
          <p:cNvPr id="82" name="Shape 82"/>
          <p:cNvSpPr txBox="1">
            <a:spLocks noGrp="1"/>
          </p:cNvSpPr>
          <p:nvPr>
            <p:ph type="body" idx="1"/>
          </p:nvPr>
        </p:nvSpPr>
        <p:spPr>
          <a:xfrm>
            <a:off x="268927" y="757245"/>
            <a:ext cx="8496900" cy="460499"/>
          </a:xfrm>
          <a:prstGeom prst="rect">
            <a:avLst/>
          </a:prstGeom>
          <a:noFill/>
          <a:ln>
            <a:noFill/>
          </a:ln>
        </p:spPr>
        <p:txBody>
          <a:bodyPr lIns="91425" tIns="45700" rIns="91425" bIns="45700" anchor="ctr" anchorCtr="0">
            <a:noAutofit/>
          </a:bodyPr>
          <a:lstStyle/>
          <a:p>
            <a:pPr marL="0" marR="0" lvl="0" indent="0" algn="l" rtl="0">
              <a:lnSpc>
                <a:spcPct val="115000"/>
              </a:lnSpc>
              <a:spcBef>
                <a:spcPts val="0"/>
              </a:spcBef>
              <a:spcAft>
                <a:spcPts val="0"/>
              </a:spcAft>
              <a:buClr>
                <a:schemeClr val="dk1"/>
              </a:buClr>
              <a:buSzPct val="25000"/>
              <a:buFont typeface="Arial"/>
              <a:buNone/>
            </a:pPr>
            <a:r>
              <a:rPr lang="en-GB" sz="2000" b="0" i="0" u="none" strike="noStrike" cap="none">
                <a:solidFill>
                  <a:srgbClr val="404040"/>
                </a:solidFill>
                <a:latin typeface="Arial"/>
                <a:ea typeface="Arial"/>
                <a:cs typeface="Arial"/>
                <a:sym typeface="Arial"/>
              </a:rPr>
              <a:t>Cleaning, Filtering and Scaling of data</a:t>
            </a:r>
          </a:p>
        </p:txBody>
      </p:sp>
      <p:sp>
        <p:nvSpPr>
          <p:cNvPr id="83" name="Shape 83"/>
          <p:cNvSpPr txBox="1">
            <a:spLocks noGrp="1"/>
          </p:cNvSpPr>
          <p:nvPr>
            <p:ph type="body" idx="2"/>
          </p:nvPr>
        </p:nvSpPr>
        <p:spPr>
          <a:xfrm>
            <a:off x="268975" y="1312173"/>
            <a:ext cx="8496900" cy="2467200"/>
          </a:xfrm>
          <a:prstGeom prst="rect">
            <a:avLst/>
          </a:prstGeom>
          <a:noFill/>
          <a:ln>
            <a:noFill/>
          </a:ln>
        </p:spPr>
        <p:txBody>
          <a:bodyPr lIns="396000" tIns="45700" rIns="91425" bIns="45700" anchor="t" anchorCtr="0">
            <a:noAutofit/>
          </a:bodyPr>
          <a:lstStyle/>
          <a:p>
            <a:pPr marL="0" marR="0" lvl="0" indent="0" algn="l" rtl="0">
              <a:lnSpc>
                <a:spcPct val="115000"/>
              </a:lnSpc>
              <a:spcBef>
                <a:spcPts val="0"/>
              </a:spcBef>
              <a:spcAft>
                <a:spcPts val="0"/>
              </a:spcAft>
              <a:buClr>
                <a:schemeClr val="dk1"/>
              </a:buClr>
              <a:buSzPct val="25000"/>
              <a:buFont typeface="Arial"/>
              <a:buNone/>
            </a:pPr>
            <a:r>
              <a:rPr lang="en-GB" sz="1400" b="0" i="0" u="none" strike="noStrike" cap="none">
                <a:solidFill>
                  <a:srgbClr val="404040"/>
                </a:solidFill>
                <a:latin typeface="Arial"/>
                <a:ea typeface="Arial"/>
                <a:cs typeface="Arial"/>
                <a:sym typeface="Arial"/>
              </a:rPr>
              <a:t>The data obtained from CoolClimate require</a:t>
            </a:r>
            <a:r>
              <a:rPr lang="en-GB">
                <a:solidFill>
                  <a:srgbClr val="404040"/>
                </a:solidFill>
              </a:rPr>
              <a:t>d</a:t>
            </a:r>
            <a:r>
              <a:rPr lang="en-GB" sz="1400" b="0" i="0" u="none" strike="noStrike" cap="none">
                <a:solidFill>
                  <a:srgbClr val="404040"/>
                </a:solidFill>
                <a:latin typeface="Arial"/>
                <a:ea typeface="Arial"/>
                <a:cs typeface="Arial"/>
                <a:sym typeface="Arial"/>
              </a:rPr>
              <a:t> some pre-processing before we c</a:t>
            </a:r>
            <a:r>
              <a:rPr lang="en-GB">
                <a:solidFill>
                  <a:srgbClr val="404040"/>
                </a:solidFill>
              </a:rPr>
              <a:t>ould</a:t>
            </a:r>
            <a:r>
              <a:rPr lang="en-GB" sz="1400" b="0" i="0" u="none" strike="noStrike" cap="none">
                <a:solidFill>
                  <a:srgbClr val="404040"/>
                </a:solidFill>
                <a:latin typeface="Arial"/>
                <a:ea typeface="Arial"/>
                <a:cs typeface="Arial"/>
                <a:sym typeface="Arial"/>
              </a:rPr>
              <a:t> build the model:</a:t>
            </a:r>
          </a:p>
          <a:p>
            <a:pPr marR="0" lvl="0" algn="l" rtl="0">
              <a:lnSpc>
                <a:spcPct val="115000"/>
              </a:lnSpc>
              <a:spcBef>
                <a:spcPts val="300"/>
              </a:spcBef>
              <a:spcAft>
                <a:spcPts val="0"/>
              </a:spcAft>
              <a:buNone/>
            </a:pPr>
            <a:endParaRPr sz="1400" b="0" i="0" u="none" strike="noStrike" cap="none">
              <a:solidFill>
                <a:srgbClr val="404040"/>
              </a:solidFill>
              <a:latin typeface="Arial"/>
              <a:ea typeface="Arial"/>
              <a:cs typeface="Arial"/>
              <a:sym typeface="Arial"/>
            </a:endParaRPr>
          </a:p>
          <a:p>
            <a:pPr marL="514350" marR="0" lvl="0" indent="-285750" algn="l" rtl="0">
              <a:lnSpc>
                <a:spcPct val="115000"/>
              </a:lnSpc>
              <a:spcBef>
                <a:spcPts val="300"/>
              </a:spcBef>
              <a:spcAft>
                <a:spcPts val="0"/>
              </a:spcAft>
              <a:buClr>
                <a:srgbClr val="404040"/>
              </a:buClr>
              <a:buSzPct val="100000"/>
              <a:buFont typeface="Arial"/>
              <a:buChar char="•"/>
            </a:pPr>
            <a:r>
              <a:rPr lang="en-GB" b="1">
                <a:solidFill>
                  <a:srgbClr val="404040"/>
                </a:solidFill>
              </a:rPr>
              <a:t>Cleaning:   </a:t>
            </a:r>
            <a:r>
              <a:rPr lang="en-GB">
                <a:solidFill>
                  <a:srgbClr val="404040"/>
                </a:solidFill>
              </a:rPr>
              <a:t>Reduced dataset from</a:t>
            </a:r>
            <a:r>
              <a:rPr lang="en-GB" b="1">
                <a:solidFill>
                  <a:srgbClr val="404040"/>
                </a:solidFill>
              </a:rPr>
              <a:t> </a:t>
            </a:r>
            <a:r>
              <a:rPr lang="en-GB">
                <a:solidFill>
                  <a:srgbClr val="404040"/>
                </a:solidFill>
              </a:rPr>
              <a:t>28 columns to 11 columns</a:t>
            </a:r>
          </a:p>
          <a:p>
            <a:pPr marL="285750" marR="0" lvl="0" indent="-285750" algn="l" rtl="0">
              <a:lnSpc>
                <a:spcPct val="115000"/>
              </a:lnSpc>
              <a:spcBef>
                <a:spcPts val="300"/>
              </a:spcBef>
              <a:spcAft>
                <a:spcPts val="0"/>
              </a:spcAft>
              <a:buClr>
                <a:srgbClr val="3F3F3F"/>
              </a:buClr>
              <a:buSzPct val="100000"/>
              <a:buFont typeface="Arial"/>
              <a:buNone/>
            </a:pPr>
            <a:endParaRPr sz="1400" b="0" i="0" u="none" strike="noStrike" cap="none">
              <a:solidFill>
                <a:srgbClr val="404040"/>
              </a:solidFill>
              <a:latin typeface="Arial"/>
              <a:ea typeface="Arial"/>
              <a:cs typeface="Arial"/>
              <a:sym typeface="Arial"/>
            </a:endParaRPr>
          </a:p>
          <a:p>
            <a:pPr marL="514350" marR="0" lvl="0" indent="-285750" algn="l" rtl="0">
              <a:lnSpc>
                <a:spcPct val="115000"/>
              </a:lnSpc>
              <a:spcBef>
                <a:spcPts val="300"/>
              </a:spcBef>
              <a:spcAft>
                <a:spcPts val="0"/>
              </a:spcAft>
              <a:buClr>
                <a:srgbClr val="404040"/>
              </a:buClr>
              <a:buSzPct val="100000"/>
              <a:buFont typeface="Arial"/>
              <a:buChar char="•"/>
            </a:pPr>
            <a:r>
              <a:rPr lang="en-GB" sz="1400" b="1" i="0" u="none" strike="noStrike" cap="none">
                <a:solidFill>
                  <a:srgbClr val="404040"/>
                </a:solidFill>
                <a:latin typeface="Arial"/>
                <a:ea typeface="Arial"/>
                <a:cs typeface="Arial"/>
                <a:sym typeface="Arial"/>
              </a:rPr>
              <a:t>Filtering:    </a:t>
            </a:r>
            <a:r>
              <a:rPr lang="en-GB">
                <a:solidFill>
                  <a:srgbClr val="404040"/>
                </a:solidFill>
              </a:rPr>
              <a:t>Chose top 50 zip codes based on lowest CO2</a:t>
            </a:r>
          </a:p>
          <a:p>
            <a:pPr marL="285750" marR="0" lvl="0" indent="-285750" algn="l" rtl="0">
              <a:lnSpc>
                <a:spcPct val="115000"/>
              </a:lnSpc>
              <a:spcBef>
                <a:spcPts val="300"/>
              </a:spcBef>
              <a:spcAft>
                <a:spcPts val="0"/>
              </a:spcAft>
              <a:buClr>
                <a:srgbClr val="3F3F3F"/>
              </a:buClr>
              <a:buSzPct val="100000"/>
              <a:buFont typeface="Arial"/>
              <a:buNone/>
            </a:pPr>
            <a:endParaRPr sz="1400" b="0" i="0" u="none" strike="noStrike" cap="none">
              <a:solidFill>
                <a:srgbClr val="404040"/>
              </a:solidFill>
              <a:latin typeface="Arial"/>
              <a:ea typeface="Arial"/>
              <a:cs typeface="Arial"/>
              <a:sym typeface="Arial"/>
            </a:endParaRPr>
          </a:p>
          <a:p>
            <a:pPr marL="514350" marR="0" lvl="0" indent="-285750" algn="l" rtl="0">
              <a:lnSpc>
                <a:spcPct val="115000"/>
              </a:lnSpc>
              <a:spcBef>
                <a:spcPts val="300"/>
              </a:spcBef>
              <a:spcAft>
                <a:spcPts val="0"/>
              </a:spcAft>
              <a:buClr>
                <a:srgbClr val="404040"/>
              </a:buClr>
              <a:buSzPct val="100000"/>
              <a:buFont typeface="Arial"/>
              <a:buChar char="•"/>
            </a:pPr>
            <a:r>
              <a:rPr lang="en-GB" sz="1400" b="1" i="0" u="none" strike="noStrike" cap="none">
                <a:solidFill>
                  <a:srgbClr val="404040"/>
                </a:solidFill>
                <a:latin typeface="Arial"/>
                <a:ea typeface="Arial"/>
                <a:cs typeface="Arial"/>
                <a:sym typeface="Arial"/>
              </a:rPr>
              <a:t>Scaling:     </a:t>
            </a:r>
            <a:r>
              <a:rPr lang="en-GB" b="1">
                <a:solidFill>
                  <a:srgbClr val="404040"/>
                </a:solidFill>
              </a:rPr>
              <a:t> </a:t>
            </a:r>
            <a:r>
              <a:rPr lang="en-GB">
                <a:solidFill>
                  <a:srgbClr val="404040"/>
                </a:solidFill>
              </a:rPr>
              <a:t>Made factors comparable by decimal scaling</a:t>
            </a:r>
          </a:p>
        </p:txBody>
      </p:sp>
      <p:sp>
        <p:nvSpPr>
          <p:cNvPr id="84" name="Shape 84"/>
          <p:cNvSpPr txBox="1"/>
          <p:nvPr/>
        </p:nvSpPr>
        <p:spPr>
          <a:xfrm>
            <a:off x="1393200" y="3697200"/>
            <a:ext cx="6357600" cy="741600"/>
          </a:xfrm>
          <a:prstGeom prst="rect">
            <a:avLst/>
          </a:prstGeom>
          <a:noFill/>
          <a:ln>
            <a:noFill/>
          </a:ln>
        </p:spPr>
        <p:txBody>
          <a:bodyPr lIns="91425" tIns="91425" rIns="91425" bIns="91425" anchor="t" anchorCtr="0">
            <a:noAutofit/>
          </a:bodyPr>
          <a:lstStyle/>
          <a:p>
            <a:pPr lvl="0">
              <a:spcBef>
                <a:spcPts val="0"/>
              </a:spcBef>
              <a:buNone/>
            </a:pPr>
            <a:r>
              <a:rPr lang="en-GB" b="1" i="1"/>
              <a:t>Data usability improved by cleaning, filtering and scaling the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Shape 89"/>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Problem Formulation</a:t>
            </a:r>
          </a:p>
        </p:txBody>
      </p:sp>
      <p:sp>
        <p:nvSpPr>
          <p:cNvPr id="90" name="Shape 90"/>
          <p:cNvSpPr txBox="1">
            <a:spLocks noGrp="1"/>
          </p:cNvSpPr>
          <p:nvPr>
            <p:ph type="body" idx="2"/>
          </p:nvPr>
        </p:nvSpPr>
        <p:spPr>
          <a:xfrm>
            <a:off x="126602" y="1220033"/>
            <a:ext cx="8496900" cy="3522000"/>
          </a:xfrm>
          <a:prstGeom prst="rect">
            <a:avLst/>
          </a:prstGeom>
          <a:noFill/>
          <a:ln>
            <a:noFill/>
          </a:ln>
        </p:spPr>
        <p:txBody>
          <a:bodyPr lIns="396000" tIns="45700" rIns="91425" bIns="45700" anchor="t" anchorCtr="0">
            <a:noAutofit/>
          </a:bodyPr>
          <a:lstStyle/>
          <a:p>
            <a:pPr marL="457200" marR="0" lvl="0" indent="-228600" algn="l" rtl="0">
              <a:lnSpc>
                <a:spcPct val="115000"/>
              </a:lnSpc>
              <a:spcBef>
                <a:spcPts val="0"/>
              </a:spcBef>
              <a:spcAft>
                <a:spcPts val="0"/>
              </a:spcAft>
              <a:buClr>
                <a:srgbClr val="3F3F3F"/>
              </a:buClr>
              <a:buSzPct val="100000"/>
              <a:buFont typeface="Arial"/>
              <a:buChar char="●"/>
            </a:pPr>
            <a:r>
              <a:rPr lang="en-GB" sz="1400" b="1" i="0" u="none" strike="noStrike" cap="none">
                <a:solidFill>
                  <a:srgbClr val="404040"/>
                </a:solidFill>
                <a:latin typeface="Arial"/>
                <a:ea typeface="Arial"/>
                <a:cs typeface="Arial"/>
                <a:sym typeface="Arial"/>
              </a:rPr>
              <a:t>Decision variables: </a:t>
            </a:r>
          </a:p>
          <a:p>
            <a:pPr marR="0" lvl="1" algn="l" rtl="0">
              <a:lnSpc>
                <a:spcPct val="115000"/>
              </a:lnSpc>
              <a:spcBef>
                <a:spcPts val="0"/>
              </a:spcBef>
              <a:spcAft>
                <a:spcPts val="0"/>
              </a:spcAft>
              <a:buClr>
                <a:srgbClr val="3F3F3F"/>
              </a:buClr>
              <a:buSzPct val="100000"/>
              <a:buFont typeface="Arial"/>
            </a:pPr>
            <a:r>
              <a:rPr lang="en-GB" sz="1200" i="0" u="none" strike="noStrike" cap="none">
                <a:solidFill>
                  <a:srgbClr val="404040"/>
                </a:solidFill>
                <a:latin typeface="Arial"/>
                <a:ea typeface="Arial"/>
                <a:cs typeface="Arial"/>
                <a:sym typeface="Arial"/>
              </a:rPr>
              <a:t>Every Z</a:t>
            </a:r>
            <a:r>
              <a:rPr lang="en-GB" sz="1200">
                <a:solidFill>
                  <a:srgbClr val="404040"/>
                </a:solidFill>
              </a:rPr>
              <a:t>ip Code</a:t>
            </a:r>
          </a:p>
          <a:p>
            <a:pPr marR="0" lvl="2" algn="l" rtl="0">
              <a:lnSpc>
                <a:spcPct val="115000"/>
              </a:lnSpc>
              <a:spcBef>
                <a:spcPts val="0"/>
              </a:spcBef>
              <a:spcAft>
                <a:spcPts val="0"/>
              </a:spcAft>
              <a:buClr>
                <a:srgbClr val="404040"/>
              </a:buClr>
              <a:buSzPct val="100000"/>
            </a:pPr>
            <a:r>
              <a:rPr lang="en-GB" sz="1200">
                <a:solidFill>
                  <a:srgbClr val="404040"/>
                </a:solidFill>
              </a:rPr>
              <a:t>Value of 1 given to those selected</a:t>
            </a:r>
          </a:p>
          <a:p>
            <a:pPr marR="0" lvl="2" algn="l" rtl="0">
              <a:lnSpc>
                <a:spcPct val="115000"/>
              </a:lnSpc>
              <a:spcBef>
                <a:spcPts val="0"/>
              </a:spcBef>
              <a:spcAft>
                <a:spcPts val="0"/>
              </a:spcAft>
              <a:buClr>
                <a:srgbClr val="404040"/>
              </a:buClr>
              <a:buSzPct val="100000"/>
            </a:pPr>
            <a:r>
              <a:rPr lang="en-GB" sz="1200">
                <a:solidFill>
                  <a:srgbClr val="404040"/>
                </a:solidFill>
              </a:rPr>
              <a:t>Select exactly 10</a:t>
            </a:r>
          </a:p>
          <a:p>
            <a:pPr marL="457200" marR="0" lvl="0" indent="-228600" algn="l" rtl="0">
              <a:lnSpc>
                <a:spcPct val="115000"/>
              </a:lnSpc>
              <a:spcBef>
                <a:spcPts val="0"/>
              </a:spcBef>
              <a:spcAft>
                <a:spcPts val="0"/>
              </a:spcAft>
              <a:buClr>
                <a:srgbClr val="404040"/>
              </a:buClr>
              <a:buSzPct val="100000"/>
              <a:buFont typeface="Arial"/>
              <a:buChar char="●"/>
            </a:pPr>
            <a:r>
              <a:rPr lang="en-GB" b="1">
                <a:solidFill>
                  <a:srgbClr val="404040"/>
                </a:solidFill>
              </a:rPr>
              <a:t>Cost Function:</a:t>
            </a:r>
          </a:p>
          <a:p>
            <a:pPr marR="0" lvl="1" algn="l" rtl="0">
              <a:lnSpc>
                <a:spcPct val="115000"/>
              </a:lnSpc>
              <a:spcBef>
                <a:spcPts val="0"/>
              </a:spcBef>
              <a:spcAft>
                <a:spcPts val="0"/>
              </a:spcAft>
              <a:buClr>
                <a:srgbClr val="404040"/>
              </a:buClr>
              <a:buSzPct val="100000"/>
            </a:pPr>
            <a:r>
              <a:rPr lang="en-GB" sz="1200">
                <a:solidFill>
                  <a:srgbClr val="404040"/>
                </a:solidFill>
              </a:rPr>
              <a:t>Gives cost(penalty) associated with each zip code</a:t>
            </a:r>
          </a:p>
          <a:p>
            <a:pPr marR="0" lvl="1" algn="l" rtl="0">
              <a:lnSpc>
                <a:spcPct val="115000"/>
              </a:lnSpc>
              <a:spcBef>
                <a:spcPts val="0"/>
              </a:spcBef>
              <a:spcAft>
                <a:spcPts val="0"/>
              </a:spcAft>
              <a:buClr>
                <a:srgbClr val="404040"/>
              </a:buClr>
              <a:buSzPct val="100000"/>
            </a:pPr>
            <a:r>
              <a:rPr lang="en-GB" sz="1200">
                <a:solidFill>
                  <a:srgbClr val="404040"/>
                </a:solidFill>
              </a:rPr>
              <a:t>Minimizes total cost</a:t>
            </a:r>
          </a:p>
          <a:p>
            <a:pPr marR="0" lvl="1" algn="l" rtl="0">
              <a:lnSpc>
                <a:spcPct val="115000"/>
              </a:lnSpc>
              <a:spcBef>
                <a:spcPts val="0"/>
              </a:spcBef>
              <a:spcAft>
                <a:spcPts val="0"/>
              </a:spcAft>
              <a:buClr>
                <a:srgbClr val="404040"/>
              </a:buClr>
              <a:buSzPct val="100000"/>
            </a:pPr>
            <a:r>
              <a:rPr lang="en-GB" sz="1200">
                <a:solidFill>
                  <a:srgbClr val="404040"/>
                </a:solidFill>
              </a:rPr>
              <a:t>Sums weighted values of the 8 different factors</a:t>
            </a:r>
          </a:p>
          <a:p>
            <a:pPr marL="457200" marR="0" lvl="0" indent="-228600" algn="l" rtl="0">
              <a:lnSpc>
                <a:spcPct val="115000"/>
              </a:lnSpc>
              <a:spcBef>
                <a:spcPts val="0"/>
              </a:spcBef>
              <a:spcAft>
                <a:spcPts val="0"/>
              </a:spcAft>
              <a:buClr>
                <a:srgbClr val="3F3F3F"/>
              </a:buClr>
              <a:buSzPct val="100000"/>
              <a:buFont typeface="Arial"/>
              <a:buChar char="●"/>
            </a:pPr>
            <a:r>
              <a:rPr lang="en-GB" b="1">
                <a:solidFill>
                  <a:srgbClr val="404040"/>
                </a:solidFill>
              </a:rPr>
              <a:t>Factors/Values</a:t>
            </a:r>
          </a:p>
          <a:p>
            <a:pPr marL="457200" marR="0" lvl="0" indent="-228600" algn="l" rtl="0">
              <a:lnSpc>
                <a:spcPct val="115000"/>
              </a:lnSpc>
              <a:spcBef>
                <a:spcPts val="0"/>
              </a:spcBef>
              <a:spcAft>
                <a:spcPts val="0"/>
              </a:spcAft>
              <a:buClr>
                <a:srgbClr val="3F3F3F"/>
              </a:buClr>
              <a:buSzPct val="100000"/>
              <a:buFont typeface="Arial"/>
              <a:buNone/>
            </a:pPr>
            <a:endParaRPr sz="1200" b="0" i="0" u="none" strike="noStrike" cap="none">
              <a:solidFill>
                <a:schemeClr val="dk1"/>
              </a:solidFill>
              <a:latin typeface="Arial"/>
              <a:ea typeface="Arial"/>
              <a:cs typeface="Arial"/>
              <a:sym typeface="Arial"/>
            </a:endParaRPr>
          </a:p>
        </p:txBody>
      </p:sp>
      <p:graphicFrame>
        <p:nvGraphicFramePr>
          <p:cNvPr id="91" name="Shape 91"/>
          <p:cNvGraphicFramePr/>
          <p:nvPr/>
        </p:nvGraphicFramePr>
        <p:xfrm>
          <a:off x="2359422" y="3270064"/>
          <a:ext cx="4366200" cy="1471950"/>
        </p:xfrm>
        <a:graphic>
          <a:graphicData uri="http://schemas.openxmlformats.org/drawingml/2006/table">
            <a:tbl>
              <a:tblPr firstRow="1">
                <a:noFill/>
                <a:tableStyleId>{966F0A66-3EF1-41DA-8110-F2586B1F48AC}</a:tableStyleId>
              </a:tblPr>
              <a:tblGrid>
                <a:gridCol w="1346200">
                  <a:extLst>
                    <a:ext uri="{9D8B030D-6E8A-4147-A177-3AD203B41FA5}">
                      <a16:colId xmlns:a16="http://schemas.microsoft.com/office/drawing/2014/main" val="20000"/>
                    </a:ext>
                  </a:extLst>
                </a:gridCol>
                <a:gridCol w="1686275">
                  <a:extLst>
                    <a:ext uri="{9D8B030D-6E8A-4147-A177-3AD203B41FA5}">
                      <a16:colId xmlns:a16="http://schemas.microsoft.com/office/drawing/2014/main" val="20001"/>
                    </a:ext>
                  </a:extLst>
                </a:gridCol>
                <a:gridCol w="1333725">
                  <a:extLst>
                    <a:ext uri="{9D8B030D-6E8A-4147-A177-3AD203B41FA5}">
                      <a16:colId xmlns:a16="http://schemas.microsoft.com/office/drawing/2014/main" val="20002"/>
                    </a:ext>
                  </a:extLst>
                </a:gridCol>
              </a:tblGrid>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b="1" u="none" strike="noStrike" cap="none"/>
                        <a:t>Factor</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b="1" u="none" strike="noStrike" cap="none"/>
                        <a:t>Optimum Value</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b="1" u="none" strike="noStrike" cap="none"/>
                        <a:t>Remarks</a:t>
                      </a:r>
                    </a:p>
                  </a:txBody>
                  <a:tcPr marL="7625" marR="7625" marT="7625" marB="0" anchor="b"/>
                </a:tc>
                <a:extLst>
                  <a:ext uri="{0D108BD9-81ED-4DB2-BD59-A6C34878D82A}">
                    <a16:rowId xmlns:a16="http://schemas.microsoft.com/office/drawing/2014/main" val="10000"/>
                  </a:ext>
                </a:extLst>
              </a:tr>
              <a:tr h="191750">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Population density</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4000 persons/sq. mile</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Non-linear relation</a:t>
                      </a:r>
                    </a:p>
                  </a:txBody>
                  <a:tcPr marL="7625" marR="7625" marT="7625" marB="0" anchor="b"/>
                </a:tc>
                <a:extLst>
                  <a:ext uri="{0D108BD9-81ED-4DB2-BD59-A6C34878D82A}">
                    <a16:rowId xmlns:a16="http://schemas.microsoft.com/office/drawing/2014/main" val="10001"/>
                  </a:ext>
                </a:extLst>
              </a:tr>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Average House Value</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$100,000</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Non-linear relation</a:t>
                      </a:r>
                    </a:p>
                  </a:txBody>
                  <a:tcPr marL="7625" marR="7625" marT="7625" marB="0" anchor="b"/>
                </a:tc>
                <a:extLst>
                  <a:ext uri="{0D108BD9-81ED-4DB2-BD59-A6C34878D82A}">
                    <a16:rowId xmlns:a16="http://schemas.microsoft.com/office/drawing/2014/main" val="10002"/>
                  </a:ext>
                </a:extLst>
              </a:tr>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Income</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$50,000 yearly</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Non-linear relation</a:t>
                      </a:r>
                    </a:p>
                  </a:txBody>
                  <a:tcPr marL="7625" marR="7625" marT="7625" marB="0" anchor="b"/>
                </a:tc>
                <a:extLst>
                  <a:ext uri="{0D108BD9-81ED-4DB2-BD59-A6C34878D82A}">
                    <a16:rowId xmlns:a16="http://schemas.microsoft.com/office/drawing/2014/main" val="10003"/>
                  </a:ext>
                </a:extLst>
              </a:tr>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Income Tax</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0.0%</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Lower the better</a:t>
                      </a:r>
                    </a:p>
                  </a:txBody>
                  <a:tcPr marL="7625" marR="7625" marT="7625" marB="0" anchor="b"/>
                </a:tc>
                <a:extLst>
                  <a:ext uri="{0D108BD9-81ED-4DB2-BD59-A6C34878D82A}">
                    <a16:rowId xmlns:a16="http://schemas.microsoft.com/office/drawing/2014/main" val="10004"/>
                  </a:ext>
                </a:extLst>
              </a:tr>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Property Tax</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$0</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Lower the better</a:t>
                      </a:r>
                    </a:p>
                  </a:txBody>
                  <a:tcPr marL="7625" marR="7625" marT="7625" marB="0" anchor="b"/>
                </a:tc>
                <a:extLst>
                  <a:ext uri="{0D108BD9-81ED-4DB2-BD59-A6C34878D82A}">
                    <a16:rowId xmlns:a16="http://schemas.microsoft.com/office/drawing/2014/main" val="10005"/>
                  </a:ext>
                </a:extLst>
              </a:tr>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Elevation</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0 feet above sea level</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Lower the better</a:t>
                      </a:r>
                    </a:p>
                  </a:txBody>
                  <a:tcPr marL="7625" marR="7625" marT="7625" marB="0" anchor="b"/>
                </a:tc>
                <a:extLst>
                  <a:ext uri="{0D108BD9-81ED-4DB2-BD59-A6C34878D82A}">
                    <a16:rowId xmlns:a16="http://schemas.microsoft.com/office/drawing/2014/main" val="10006"/>
                  </a:ext>
                </a:extLst>
              </a:tr>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Vehicles miles traveled</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0 miles</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Lower the better</a:t>
                      </a:r>
                    </a:p>
                  </a:txBody>
                  <a:tcPr marL="7625" marR="7625" marT="7625" marB="0" anchor="b"/>
                </a:tc>
                <a:extLst>
                  <a:ext uri="{0D108BD9-81ED-4DB2-BD59-A6C34878D82A}">
                    <a16:rowId xmlns:a16="http://schemas.microsoft.com/office/drawing/2014/main" val="10007"/>
                  </a:ext>
                </a:extLst>
              </a:tr>
              <a:tr h="160025">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Total CO2/Year</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0 metric tons</a:t>
                      </a:r>
                    </a:p>
                  </a:txBody>
                  <a:tcPr marL="7625" marR="7625" marT="7625"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000" u="none" strike="noStrike" cap="none"/>
                        <a:t>Lower the better</a:t>
                      </a:r>
                    </a:p>
                  </a:txBody>
                  <a:tcPr marL="7625" marR="7625" marT="7625" marB="0" anchor="b"/>
                </a:tc>
                <a:extLst>
                  <a:ext uri="{0D108BD9-81ED-4DB2-BD59-A6C34878D82A}">
                    <a16:rowId xmlns:a16="http://schemas.microsoft.com/office/drawing/2014/main" val="10008"/>
                  </a:ext>
                </a:extLst>
              </a:tr>
            </a:tbl>
          </a:graphicData>
        </a:graphic>
      </p:graphicFrame>
      <p:sp>
        <p:nvSpPr>
          <p:cNvPr id="92" name="Shape 92"/>
          <p:cNvSpPr txBox="1">
            <a:spLocks noGrp="1"/>
          </p:cNvSpPr>
          <p:nvPr>
            <p:ph type="body" idx="1"/>
          </p:nvPr>
        </p:nvSpPr>
        <p:spPr>
          <a:xfrm>
            <a:off x="323550" y="759535"/>
            <a:ext cx="8496900" cy="460500"/>
          </a:xfrm>
          <a:prstGeom prst="rect">
            <a:avLst/>
          </a:prstGeom>
          <a:noFill/>
          <a:ln>
            <a:noFill/>
          </a:ln>
        </p:spPr>
        <p:txBody>
          <a:bodyPr lIns="91425" tIns="45700" rIns="91425" bIns="45700" anchor="ctr" anchorCtr="0">
            <a:noAutofit/>
          </a:bodyPr>
          <a:lstStyle/>
          <a:p>
            <a:pPr marL="0" marR="0" lvl="0" indent="0" algn="l" rtl="0">
              <a:lnSpc>
                <a:spcPct val="115000"/>
              </a:lnSpc>
              <a:spcBef>
                <a:spcPts val="0"/>
              </a:spcBef>
              <a:spcAft>
                <a:spcPts val="0"/>
              </a:spcAft>
              <a:buClr>
                <a:schemeClr val="dk1"/>
              </a:buClr>
              <a:buSzPct val="25000"/>
              <a:buFont typeface="Arial"/>
              <a:buNone/>
            </a:pPr>
            <a:r>
              <a:rPr lang="en-GB" sz="2000" b="0" i="0" u="none" strike="noStrike" cap="none">
                <a:solidFill>
                  <a:srgbClr val="404040"/>
                </a:solidFill>
                <a:latin typeface="Arial"/>
                <a:ea typeface="Arial"/>
                <a:cs typeface="Arial"/>
                <a:sym typeface="Arial"/>
              </a:rPr>
              <a:t>Optimization problem with the following characteristics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Shape 97"/>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Solution Method – Business Perspective</a:t>
            </a:r>
          </a:p>
        </p:txBody>
      </p:sp>
      <p:sp>
        <p:nvSpPr>
          <p:cNvPr id="98" name="Shape 98"/>
          <p:cNvSpPr txBox="1">
            <a:spLocks noGrp="1"/>
          </p:cNvSpPr>
          <p:nvPr>
            <p:ph type="body" idx="1"/>
          </p:nvPr>
        </p:nvSpPr>
        <p:spPr>
          <a:xfrm>
            <a:off x="323561" y="767899"/>
            <a:ext cx="8496899" cy="46050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2000" b="0" i="0" u="none" strike="noStrike" cap="none">
                <a:solidFill>
                  <a:srgbClr val="3F3F3F"/>
                </a:solidFill>
                <a:latin typeface="Arial"/>
                <a:ea typeface="Arial"/>
                <a:cs typeface="Arial"/>
                <a:sym typeface="Arial"/>
              </a:rPr>
              <a:t>Formulating the cost function by weighting each factor</a:t>
            </a:r>
          </a:p>
        </p:txBody>
      </p:sp>
      <p:sp>
        <p:nvSpPr>
          <p:cNvPr id="99" name="Shape 99"/>
          <p:cNvSpPr txBox="1">
            <a:spLocks noGrp="1"/>
          </p:cNvSpPr>
          <p:nvPr>
            <p:ph type="body" idx="2"/>
          </p:nvPr>
        </p:nvSpPr>
        <p:spPr>
          <a:xfrm>
            <a:off x="395505" y="1228394"/>
            <a:ext cx="8496899" cy="2995800"/>
          </a:xfrm>
          <a:prstGeom prst="rect">
            <a:avLst/>
          </a:prstGeom>
          <a:noFill/>
          <a:ln>
            <a:noFill/>
          </a:ln>
        </p:spPr>
        <p:txBody>
          <a:bodyPr lIns="396000" tIns="45700" rIns="91425" bIns="45700" anchor="t" anchorCtr="0">
            <a:noAutofit/>
          </a:bodyPr>
          <a:lstStyle/>
          <a:p>
            <a:pPr marL="425450" marR="0" lvl="0" indent="-285750" algn="l" rtl="0">
              <a:lnSpc>
                <a:spcPct val="100000"/>
              </a:lnSpc>
              <a:spcBef>
                <a:spcPts val="0"/>
              </a:spcBef>
              <a:spcAft>
                <a:spcPts val="0"/>
              </a:spcAft>
              <a:buClr>
                <a:srgbClr val="3F3F3F"/>
              </a:buClr>
              <a:buSzPct val="100000"/>
              <a:buFont typeface="Arial"/>
              <a:buChar char="•"/>
            </a:pPr>
            <a:r>
              <a:rPr lang="en-GB" sz="1600" b="0" i="0" u="none" strike="noStrike" cap="none">
                <a:solidFill>
                  <a:srgbClr val="3F3F3F"/>
                </a:solidFill>
                <a:latin typeface="Arial"/>
                <a:ea typeface="Arial"/>
                <a:cs typeface="Arial"/>
                <a:sym typeface="Arial"/>
              </a:rPr>
              <a:t>Evaluat</a:t>
            </a:r>
            <a:r>
              <a:rPr lang="en-GB" sz="1600"/>
              <a:t>e</a:t>
            </a:r>
            <a:r>
              <a:rPr lang="en-GB" sz="1600" b="0" i="0" u="none" strike="noStrike" cap="none">
                <a:solidFill>
                  <a:srgbClr val="3F3F3F"/>
                </a:solidFill>
                <a:latin typeface="Arial"/>
                <a:ea typeface="Arial"/>
                <a:cs typeface="Arial"/>
                <a:sym typeface="Arial"/>
              </a:rPr>
              <a:t> importance of each factor from a customer’s perspective</a:t>
            </a:r>
          </a:p>
          <a:p>
            <a:pPr marR="0" lvl="0" algn="l" rtl="0">
              <a:lnSpc>
                <a:spcPct val="100000"/>
              </a:lnSpc>
              <a:spcBef>
                <a:spcPts val="0"/>
              </a:spcBef>
              <a:spcAft>
                <a:spcPts val="0"/>
              </a:spcAft>
              <a:buNone/>
            </a:pPr>
            <a:endParaRPr sz="600"/>
          </a:p>
          <a:p>
            <a:pPr marL="425450" marR="0" lvl="0" indent="-285750" algn="l" rtl="0">
              <a:lnSpc>
                <a:spcPct val="100000"/>
              </a:lnSpc>
              <a:spcBef>
                <a:spcPts val="0"/>
              </a:spcBef>
              <a:spcAft>
                <a:spcPts val="0"/>
              </a:spcAft>
              <a:buClr>
                <a:srgbClr val="3F3F3F"/>
              </a:buClr>
              <a:buSzPct val="100000"/>
              <a:buFont typeface="Arial"/>
              <a:buChar char="•"/>
            </a:pPr>
            <a:r>
              <a:rPr lang="en-GB" sz="1600" b="0" i="0" u="none" strike="noStrike" cap="none">
                <a:solidFill>
                  <a:srgbClr val="3F3F3F"/>
                </a:solidFill>
                <a:latin typeface="Arial"/>
                <a:ea typeface="Arial"/>
                <a:cs typeface="Arial"/>
                <a:sym typeface="Arial"/>
              </a:rPr>
              <a:t>Prioritize factors based on their relative importance</a:t>
            </a:r>
          </a:p>
          <a:p>
            <a:pPr marR="0" lvl="0" algn="l" rtl="0">
              <a:lnSpc>
                <a:spcPct val="100000"/>
              </a:lnSpc>
              <a:spcBef>
                <a:spcPts val="0"/>
              </a:spcBef>
              <a:spcAft>
                <a:spcPts val="0"/>
              </a:spcAft>
              <a:buNone/>
            </a:pPr>
            <a:endParaRPr sz="600"/>
          </a:p>
          <a:p>
            <a:pPr marL="425450" marR="0" lvl="0" indent="-285750" algn="l" rtl="0">
              <a:lnSpc>
                <a:spcPct val="100000"/>
              </a:lnSpc>
              <a:spcBef>
                <a:spcPts val="0"/>
              </a:spcBef>
              <a:spcAft>
                <a:spcPts val="0"/>
              </a:spcAft>
              <a:buClr>
                <a:srgbClr val="3F3F3F"/>
              </a:buClr>
              <a:buSzPct val="100000"/>
              <a:buFont typeface="Arial"/>
              <a:buChar char="•"/>
            </a:pPr>
            <a:r>
              <a:rPr lang="en-GB" sz="1600" b="0" i="0" u="none" strike="noStrike" cap="none">
                <a:solidFill>
                  <a:srgbClr val="3F3F3F"/>
                </a:solidFill>
                <a:latin typeface="Arial"/>
                <a:ea typeface="Arial"/>
                <a:cs typeface="Arial"/>
                <a:sym typeface="Arial"/>
              </a:rPr>
              <a:t>Assign a weight between 1 and 10, to each factor, based on its importance</a:t>
            </a:r>
          </a:p>
          <a:p>
            <a:pPr marR="0" lvl="0" algn="l" rtl="0">
              <a:lnSpc>
                <a:spcPct val="100000"/>
              </a:lnSpc>
              <a:spcBef>
                <a:spcPts val="0"/>
              </a:spcBef>
              <a:spcAft>
                <a:spcPts val="0"/>
              </a:spcAft>
              <a:buNone/>
            </a:pPr>
            <a:endParaRPr sz="600"/>
          </a:p>
          <a:p>
            <a:pPr marL="425450" marR="0" lvl="0" indent="-285750" algn="l" rtl="0">
              <a:lnSpc>
                <a:spcPct val="100000"/>
              </a:lnSpc>
              <a:spcBef>
                <a:spcPts val="0"/>
              </a:spcBef>
              <a:spcAft>
                <a:spcPts val="0"/>
              </a:spcAft>
              <a:buClr>
                <a:srgbClr val="3F3F3F"/>
              </a:buClr>
              <a:buSzPct val="100000"/>
              <a:buFont typeface="Arial"/>
              <a:buChar char="•"/>
            </a:pPr>
            <a:r>
              <a:rPr lang="en-GB" sz="1600"/>
              <a:t>Carbon dioxide (most important) - weight of 10</a:t>
            </a:r>
          </a:p>
          <a:p>
            <a:pPr marR="0" lvl="0" algn="l" rtl="0">
              <a:lnSpc>
                <a:spcPct val="100000"/>
              </a:lnSpc>
              <a:spcBef>
                <a:spcPts val="0"/>
              </a:spcBef>
              <a:spcAft>
                <a:spcPts val="0"/>
              </a:spcAft>
              <a:buNone/>
            </a:pPr>
            <a:endParaRPr sz="600"/>
          </a:p>
          <a:p>
            <a:pPr marL="425450" marR="0" lvl="0" indent="-285750" algn="l" rtl="0">
              <a:lnSpc>
                <a:spcPct val="100000"/>
              </a:lnSpc>
              <a:spcBef>
                <a:spcPts val="0"/>
              </a:spcBef>
              <a:spcAft>
                <a:spcPts val="0"/>
              </a:spcAft>
              <a:buClr>
                <a:srgbClr val="3F3F3F"/>
              </a:buClr>
              <a:buSzPct val="100000"/>
              <a:buFont typeface="Arial"/>
              <a:buChar char="•"/>
            </a:pPr>
            <a:r>
              <a:rPr lang="en-GB" sz="1600"/>
              <a:t>Elevation (least important) - weight of 1</a:t>
            </a:r>
          </a:p>
          <a:p>
            <a:pPr marL="0" marR="0" lvl="0" indent="0" algn="l" rtl="0">
              <a:lnSpc>
                <a:spcPct val="100000"/>
              </a:lnSpc>
              <a:spcBef>
                <a:spcPts val="0"/>
              </a:spcBef>
              <a:spcAft>
                <a:spcPts val="0"/>
              </a:spcAft>
              <a:buClr>
                <a:srgbClr val="3F3F3F"/>
              </a:buClr>
              <a:buSzPct val="25000"/>
              <a:buFont typeface="Arial"/>
              <a:buNone/>
            </a:pPr>
            <a:endParaRPr sz="1600" b="0" i="0" u="none" strike="noStrike" cap="none">
              <a:solidFill>
                <a:srgbClr val="3F3F3F"/>
              </a:solidFill>
              <a:latin typeface="Arial"/>
              <a:ea typeface="Arial"/>
              <a:cs typeface="Arial"/>
              <a:sym typeface="Arial"/>
            </a:endParaRPr>
          </a:p>
        </p:txBody>
      </p:sp>
      <p:pic>
        <p:nvPicPr>
          <p:cNvPr id="100" name="Shape 100" descr="Screen Shot 2016-12-08 at 4.42.57 PM.png"/>
          <p:cNvPicPr preferRelativeResize="0"/>
          <p:nvPr/>
        </p:nvPicPr>
        <p:blipFill rotWithShape="1">
          <a:blip r:embed="rId3">
            <a:alphaModFix/>
          </a:blip>
          <a:srcRect/>
          <a:stretch/>
        </p:blipFill>
        <p:spPr>
          <a:xfrm>
            <a:off x="3640312" y="2958478"/>
            <a:ext cx="2007300" cy="1618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Shape 105"/>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Solution Method – Technical Perspective</a:t>
            </a:r>
          </a:p>
        </p:txBody>
      </p:sp>
      <p:sp>
        <p:nvSpPr>
          <p:cNvPr id="106" name="Shape 106"/>
          <p:cNvSpPr txBox="1">
            <a:spLocks noGrp="1"/>
          </p:cNvSpPr>
          <p:nvPr>
            <p:ph type="body" idx="2"/>
          </p:nvPr>
        </p:nvSpPr>
        <p:spPr>
          <a:xfrm>
            <a:off x="323530" y="1073882"/>
            <a:ext cx="8496899" cy="2995800"/>
          </a:xfrm>
          <a:prstGeom prst="rect">
            <a:avLst/>
          </a:prstGeom>
          <a:noFill/>
          <a:ln>
            <a:noFill/>
          </a:ln>
        </p:spPr>
        <p:txBody>
          <a:bodyPr lIns="396000" tIns="45700" rIns="91425" bIns="45700" anchor="t" anchorCtr="0">
            <a:noAutofit/>
          </a:bodyPr>
          <a:lstStyle/>
          <a:p>
            <a:pPr marL="457200" marR="0" lvl="0" indent="-228600" algn="l" rtl="0">
              <a:lnSpc>
                <a:spcPct val="115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Cost function – Non linear function:</a:t>
            </a:r>
          </a:p>
          <a:p>
            <a:pPr marL="0" marR="0" lvl="0" indent="0" algn="l" rtl="0">
              <a:lnSpc>
                <a:spcPct val="115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863600" marR="0" lvl="1" indent="0" algn="l" rtl="0">
              <a:lnSpc>
                <a:spcPct val="115000"/>
              </a:lnSpc>
              <a:spcBef>
                <a:spcPts val="0"/>
              </a:spcBef>
              <a:spcAft>
                <a:spcPts val="0"/>
              </a:spcAft>
              <a:buClr>
                <a:schemeClr val="dk1"/>
              </a:buClr>
              <a:buSzPct val="25000"/>
              <a:buFont typeface="Arial"/>
              <a:buNone/>
            </a:pPr>
            <a:r>
              <a:rPr lang="en-GB" sz="1200" b="1" i="0" u="none" strike="noStrike" cap="none">
                <a:solidFill>
                  <a:srgbClr val="3F3F3F"/>
                </a:solidFill>
                <a:latin typeface="Arial"/>
                <a:ea typeface="Arial"/>
                <a:cs typeface="Arial"/>
                <a:sym typeface="Arial"/>
              </a:rPr>
              <a:t>Cost = Decision Variable (Binary) * ( 7*Population Density + 8*Average House Value + 6*Income + 5*Income Tax + 4*Property Tax + 1*Elevation + 3*Vehicles Miles Travelled + 10*CO2/Year )</a:t>
            </a:r>
          </a:p>
          <a:p>
            <a:pPr marL="0" marR="0" lvl="0" indent="0" algn="l" rtl="0">
              <a:lnSpc>
                <a:spcPct val="115000"/>
              </a:lnSpc>
              <a:spcBef>
                <a:spcPts val="0"/>
              </a:spcBef>
              <a:spcAft>
                <a:spcPts val="0"/>
              </a:spcAft>
              <a:buClr>
                <a:srgbClr val="3F3F3F"/>
              </a:buClr>
              <a:buSzPct val="25000"/>
              <a:buFont typeface="Arial"/>
              <a:buNone/>
            </a:pPr>
            <a:endParaRPr sz="600" b="1" i="0" u="none" strike="noStrike" cap="none">
              <a:solidFill>
                <a:srgbClr val="3F3F3F"/>
              </a:solidFill>
              <a:latin typeface="Arial"/>
              <a:ea typeface="Arial"/>
              <a:cs typeface="Arial"/>
              <a:sym typeface="Arial"/>
            </a:endParaRPr>
          </a:p>
          <a:p>
            <a:pPr marL="457200" marR="0" lvl="0" indent="-228600" algn="l" rtl="0">
              <a:lnSpc>
                <a:spcPct val="115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Optimization technique – Non linear programming</a:t>
            </a:r>
          </a:p>
          <a:p>
            <a:pPr marL="0" marR="0" lvl="0" indent="0" algn="l" rtl="0">
              <a:lnSpc>
                <a:spcPct val="115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15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Constraints</a:t>
            </a:r>
          </a:p>
          <a:p>
            <a:pPr marL="914400" marR="0" lvl="1" indent="-317500" algn="l" rtl="0">
              <a:lnSpc>
                <a:spcPct val="115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Decision variables are binary</a:t>
            </a:r>
          </a:p>
          <a:p>
            <a:pPr marL="914400" marR="0" lvl="1" indent="-317500" algn="l" rtl="0">
              <a:lnSpc>
                <a:spcPct val="115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Exactly 10 decision variables will have values equal to 1</a:t>
            </a:r>
          </a:p>
          <a:p>
            <a:pPr marL="457200" marR="0" lvl="0" indent="0" algn="l" rtl="0">
              <a:lnSpc>
                <a:spcPct val="115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15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Application used to solve : MS Excel Solver</a:t>
            </a:r>
          </a:p>
          <a:p>
            <a:pPr marL="0" marR="0" lvl="0" indent="0" algn="l" rtl="0">
              <a:lnSpc>
                <a:spcPct val="115000"/>
              </a:lnSpc>
              <a:spcBef>
                <a:spcPts val="0"/>
              </a:spcBef>
              <a:spcAft>
                <a:spcPts val="0"/>
              </a:spcAft>
              <a:buClr>
                <a:srgbClr val="3F3F3F"/>
              </a:buClr>
              <a:buSzPct val="25000"/>
              <a:buFont typeface="Arial"/>
              <a:buNone/>
            </a:pPr>
            <a:endParaRPr sz="600" b="0" i="0" u="none" strike="noStrike" cap="none">
              <a:solidFill>
                <a:srgbClr val="3F3F3F"/>
              </a:solidFill>
              <a:latin typeface="Arial"/>
              <a:ea typeface="Arial"/>
              <a:cs typeface="Arial"/>
              <a:sym typeface="Arial"/>
            </a:endParaRPr>
          </a:p>
          <a:p>
            <a:pPr marL="457200" marR="0" lvl="0" indent="-228600" algn="l" rtl="0">
              <a:lnSpc>
                <a:spcPct val="115000"/>
              </a:lnSpc>
              <a:spcBef>
                <a:spcPts val="0"/>
              </a:spcBef>
              <a:spcAft>
                <a:spcPts val="0"/>
              </a:spcAft>
              <a:buClr>
                <a:srgbClr val="3F3F3F"/>
              </a:buClr>
              <a:buSzPct val="100000"/>
              <a:buFont typeface="Arial"/>
              <a:buChar char="●"/>
            </a:pPr>
            <a:r>
              <a:rPr lang="en-GB" sz="1400" b="0" i="0" u="none" strike="noStrike" cap="none">
                <a:solidFill>
                  <a:srgbClr val="3F3F3F"/>
                </a:solidFill>
                <a:latin typeface="Arial"/>
                <a:ea typeface="Arial"/>
                <a:cs typeface="Arial"/>
                <a:sym typeface="Arial"/>
              </a:rPr>
              <a:t>Optimization technique : GRG Non-linear Programming</a:t>
            </a:r>
          </a:p>
          <a:p>
            <a:pPr marL="0" marR="0" lvl="0" indent="0" algn="l" rtl="0">
              <a:lnSpc>
                <a:spcPct val="100000"/>
              </a:lnSpc>
              <a:spcBef>
                <a:spcPts val="0"/>
              </a:spcBef>
              <a:spcAft>
                <a:spcPts val="0"/>
              </a:spcAft>
              <a:buClr>
                <a:srgbClr val="3F3F3F"/>
              </a:buClr>
              <a:buSzPct val="25000"/>
              <a:buFont typeface="Arial"/>
              <a:buNone/>
            </a:pPr>
            <a:endParaRPr sz="1400" b="0" i="0" u="none" strike="noStrike" cap="none">
              <a:solidFill>
                <a:srgbClr val="3F3F3F"/>
              </a:solidFill>
              <a:latin typeface="Arial"/>
              <a:ea typeface="Arial"/>
              <a:cs typeface="Arial"/>
              <a:sym typeface="Arial"/>
            </a:endParaRPr>
          </a:p>
        </p:txBody>
      </p:sp>
      <p:sp>
        <p:nvSpPr>
          <p:cNvPr id="107" name="Shape 107"/>
          <p:cNvSpPr txBox="1"/>
          <p:nvPr/>
        </p:nvSpPr>
        <p:spPr>
          <a:xfrm>
            <a:off x="1393175" y="3959300"/>
            <a:ext cx="6357600" cy="430500"/>
          </a:xfrm>
          <a:prstGeom prst="rect">
            <a:avLst/>
          </a:prstGeom>
          <a:noFill/>
          <a:ln>
            <a:noFill/>
          </a:ln>
        </p:spPr>
        <p:txBody>
          <a:bodyPr lIns="91425" tIns="91425" rIns="91425" bIns="91425" anchor="t" anchorCtr="0">
            <a:noAutofit/>
          </a:bodyPr>
          <a:lstStyle/>
          <a:p>
            <a:pPr lvl="0" algn="ctr">
              <a:spcBef>
                <a:spcPts val="0"/>
              </a:spcBef>
              <a:buNone/>
            </a:pPr>
            <a:r>
              <a:rPr lang="en-GB" b="1" i="1"/>
              <a:t>Nonlinear Optimization by minimizing total weighted cost of factors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Results</a:t>
            </a:r>
          </a:p>
        </p:txBody>
      </p:sp>
      <p:graphicFrame>
        <p:nvGraphicFramePr>
          <p:cNvPr id="113" name="Shape 113"/>
          <p:cNvGraphicFramePr/>
          <p:nvPr/>
        </p:nvGraphicFramePr>
        <p:xfrm>
          <a:off x="669406" y="1515028"/>
          <a:ext cx="3318800" cy="2532600"/>
        </p:xfrm>
        <a:graphic>
          <a:graphicData uri="http://schemas.openxmlformats.org/drawingml/2006/table">
            <a:tbl>
              <a:tblPr firstRow="1">
                <a:noFill/>
                <a:tableStyleId>{966F0A66-3EF1-41DA-8110-F2586B1F48AC}</a:tableStyleId>
              </a:tblPr>
              <a:tblGrid>
                <a:gridCol w="1209450">
                  <a:extLst>
                    <a:ext uri="{9D8B030D-6E8A-4147-A177-3AD203B41FA5}">
                      <a16:colId xmlns:a16="http://schemas.microsoft.com/office/drawing/2014/main" val="20000"/>
                    </a:ext>
                  </a:extLst>
                </a:gridCol>
                <a:gridCol w="1259150">
                  <a:extLst>
                    <a:ext uri="{9D8B030D-6E8A-4147-A177-3AD203B41FA5}">
                      <a16:colId xmlns:a16="http://schemas.microsoft.com/office/drawing/2014/main" val="20001"/>
                    </a:ext>
                  </a:extLst>
                </a:gridCol>
                <a:gridCol w="850200">
                  <a:extLst>
                    <a:ext uri="{9D8B030D-6E8A-4147-A177-3AD203B41FA5}">
                      <a16:colId xmlns:a16="http://schemas.microsoft.com/office/drawing/2014/main" val="20002"/>
                    </a:ext>
                  </a:extLst>
                </a:gridCol>
              </a:tblGrid>
              <a:tr h="24430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State</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City</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Zip code</a:t>
                      </a:r>
                    </a:p>
                  </a:txBody>
                  <a:tcPr marL="0" marR="0" marT="0" marB="0" anchor="b"/>
                </a:tc>
                <a:extLst>
                  <a:ext uri="{0D108BD9-81ED-4DB2-BD59-A6C34878D82A}">
                    <a16:rowId xmlns:a16="http://schemas.microsoft.com/office/drawing/2014/main" val="10000"/>
                  </a:ext>
                </a:extLst>
              </a:tr>
              <a:tr h="21336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New York</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Rochester</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14604</a:t>
                      </a:r>
                    </a:p>
                  </a:txBody>
                  <a:tcPr marL="0" marR="0" marT="0" marB="0" anchor="b"/>
                </a:tc>
                <a:extLst>
                  <a:ext uri="{0D108BD9-81ED-4DB2-BD59-A6C34878D82A}">
                    <a16:rowId xmlns:a16="http://schemas.microsoft.com/office/drawing/2014/main" val="10001"/>
                  </a:ext>
                </a:extLst>
              </a:tr>
              <a:tr h="21336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Alaska</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Takotna</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99675</a:t>
                      </a:r>
                    </a:p>
                  </a:txBody>
                  <a:tcPr marL="0" marR="0" marT="0" marB="0" anchor="b"/>
                </a:tc>
                <a:extLst>
                  <a:ext uri="{0D108BD9-81ED-4DB2-BD59-A6C34878D82A}">
                    <a16:rowId xmlns:a16="http://schemas.microsoft.com/office/drawing/2014/main" val="10002"/>
                  </a:ext>
                </a:extLst>
              </a:tr>
              <a:tr h="21336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Alaska</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Nikolai</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99691</a:t>
                      </a:r>
                    </a:p>
                  </a:txBody>
                  <a:tcPr marL="0" marR="0" marT="0" marB="0" anchor="b"/>
                </a:tc>
                <a:extLst>
                  <a:ext uri="{0D108BD9-81ED-4DB2-BD59-A6C34878D82A}">
                    <a16:rowId xmlns:a16="http://schemas.microsoft.com/office/drawing/2014/main" val="10003"/>
                  </a:ext>
                </a:extLst>
              </a:tr>
              <a:tr h="24430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Pennsylvania</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Scranton</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18503</a:t>
                      </a:r>
                    </a:p>
                  </a:txBody>
                  <a:tcPr marL="0" marR="0" marT="0" marB="0" anchor="b"/>
                </a:tc>
                <a:extLst>
                  <a:ext uri="{0D108BD9-81ED-4DB2-BD59-A6C34878D82A}">
                    <a16:rowId xmlns:a16="http://schemas.microsoft.com/office/drawing/2014/main" val="10004"/>
                  </a:ext>
                </a:extLst>
              </a:tr>
              <a:tr h="21336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Ohio</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Akron</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44308</a:t>
                      </a:r>
                    </a:p>
                  </a:txBody>
                  <a:tcPr marL="0" marR="0" marT="0" marB="0" anchor="b"/>
                </a:tc>
                <a:extLst>
                  <a:ext uri="{0D108BD9-81ED-4DB2-BD59-A6C34878D82A}">
                    <a16:rowId xmlns:a16="http://schemas.microsoft.com/office/drawing/2014/main" val="10005"/>
                  </a:ext>
                </a:extLst>
              </a:tr>
              <a:tr h="24430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Alaska</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Arctic Village</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99722</a:t>
                      </a:r>
                    </a:p>
                  </a:txBody>
                  <a:tcPr marL="0" marR="0" marT="0" marB="0" anchor="b"/>
                </a:tc>
                <a:extLst>
                  <a:ext uri="{0D108BD9-81ED-4DB2-BD59-A6C34878D82A}">
                    <a16:rowId xmlns:a16="http://schemas.microsoft.com/office/drawing/2014/main" val="10006"/>
                  </a:ext>
                </a:extLst>
              </a:tr>
              <a:tr h="21336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Alaska</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Juneau</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99850</a:t>
                      </a:r>
                    </a:p>
                  </a:txBody>
                  <a:tcPr marL="0" marR="0" marT="0" marB="0" anchor="b"/>
                </a:tc>
                <a:extLst>
                  <a:ext uri="{0D108BD9-81ED-4DB2-BD59-A6C34878D82A}">
                    <a16:rowId xmlns:a16="http://schemas.microsoft.com/office/drawing/2014/main" val="10007"/>
                  </a:ext>
                </a:extLst>
              </a:tr>
              <a:tr h="24430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Florida</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Jacksonville</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32202</a:t>
                      </a:r>
                    </a:p>
                  </a:txBody>
                  <a:tcPr marL="0" marR="0" marT="0" marB="0" anchor="b"/>
                </a:tc>
                <a:extLst>
                  <a:ext uri="{0D108BD9-81ED-4DB2-BD59-A6C34878D82A}">
                    <a16:rowId xmlns:a16="http://schemas.microsoft.com/office/drawing/2014/main" val="10008"/>
                  </a:ext>
                </a:extLst>
              </a:tr>
              <a:tr h="24430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Washington</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Tacoma</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98402</a:t>
                      </a:r>
                    </a:p>
                  </a:txBody>
                  <a:tcPr marL="0" marR="0" marT="0" marB="0" anchor="b"/>
                </a:tc>
                <a:extLst>
                  <a:ext uri="{0D108BD9-81ED-4DB2-BD59-A6C34878D82A}">
                    <a16:rowId xmlns:a16="http://schemas.microsoft.com/office/drawing/2014/main" val="10009"/>
                  </a:ext>
                </a:extLst>
              </a:tr>
              <a:tr h="244300">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Tennessee</a:t>
                      </a:r>
                    </a:p>
                  </a:txBody>
                  <a:tcPr marL="0" marR="0" marT="0" marB="0" anchor="b"/>
                </a:tc>
                <a:tc>
                  <a:txBody>
                    <a:bodyPr/>
                    <a:lstStyle/>
                    <a:p>
                      <a:pPr marL="0" marR="0" lvl="0" indent="0" algn="l" rtl="0">
                        <a:lnSpc>
                          <a:spcPct val="100000"/>
                        </a:lnSpc>
                        <a:spcBef>
                          <a:spcPts val="0"/>
                        </a:spcBef>
                        <a:spcAft>
                          <a:spcPts val="0"/>
                        </a:spcAft>
                        <a:buClr>
                          <a:srgbClr val="000000"/>
                        </a:buClr>
                        <a:buSzPct val="25000"/>
                        <a:buFont typeface="Arial"/>
                        <a:buNone/>
                      </a:pPr>
                      <a:r>
                        <a:rPr lang="en-GB" sz="1400" u="none" strike="noStrike" cap="none"/>
                        <a:t>Chattanooga</a:t>
                      </a:r>
                    </a:p>
                  </a:txBody>
                  <a:tcPr marL="0" marR="0" marT="0" marB="0" anchor="b"/>
                </a:tc>
                <a:tc>
                  <a:txBody>
                    <a:bodyPr/>
                    <a:lstStyle/>
                    <a:p>
                      <a:pPr marL="0" marR="0" lvl="0" indent="0" algn="r" rtl="0">
                        <a:lnSpc>
                          <a:spcPct val="100000"/>
                        </a:lnSpc>
                        <a:spcBef>
                          <a:spcPts val="0"/>
                        </a:spcBef>
                        <a:spcAft>
                          <a:spcPts val="0"/>
                        </a:spcAft>
                        <a:buClr>
                          <a:srgbClr val="000000"/>
                        </a:buClr>
                        <a:buSzPct val="25000"/>
                        <a:buFont typeface="Arial"/>
                        <a:buNone/>
                      </a:pPr>
                      <a:r>
                        <a:rPr lang="en-GB" sz="1400" u="none" strike="noStrike" cap="none"/>
                        <a:t>37402</a:t>
                      </a:r>
                    </a:p>
                  </a:txBody>
                  <a:tcPr marL="0" marR="0" marT="0" marB="0" anchor="b"/>
                </a:tc>
                <a:extLst>
                  <a:ext uri="{0D108BD9-81ED-4DB2-BD59-A6C34878D82A}">
                    <a16:rowId xmlns:a16="http://schemas.microsoft.com/office/drawing/2014/main" val="10010"/>
                  </a:ext>
                </a:extLst>
              </a:tr>
            </a:tbl>
          </a:graphicData>
        </a:graphic>
      </p:graphicFrame>
      <p:sp>
        <p:nvSpPr>
          <p:cNvPr id="114" name="Shape 114"/>
          <p:cNvSpPr txBox="1">
            <a:spLocks noGrp="1"/>
          </p:cNvSpPr>
          <p:nvPr>
            <p:ph type="body" idx="1"/>
          </p:nvPr>
        </p:nvSpPr>
        <p:spPr>
          <a:xfrm>
            <a:off x="395537" y="884466"/>
            <a:ext cx="8496944" cy="460647"/>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2000" b="0" i="0" u="none" strike="noStrike" cap="none">
                <a:solidFill>
                  <a:srgbClr val="3F3F3F"/>
                </a:solidFill>
                <a:latin typeface="Arial"/>
                <a:ea typeface="Arial"/>
                <a:cs typeface="Arial"/>
                <a:sym typeface="Arial"/>
              </a:rPr>
              <a:t>Based on our Optimal solution, the following cities were chosen</a:t>
            </a:r>
          </a:p>
        </p:txBody>
      </p:sp>
      <p:pic>
        <p:nvPicPr>
          <p:cNvPr id="115" name="Shape 115"/>
          <p:cNvPicPr preferRelativeResize="0"/>
          <p:nvPr/>
        </p:nvPicPr>
        <p:blipFill>
          <a:blip r:embed="rId3">
            <a:alphaModFix/>
          </a:blip>
          <a:stretch>
            <a:fillRect/>
          </a:stretch>
        </p:blipFill>
        <p:spPr>
          <a:xfrm>
            <a:off x="4745676" y="1398173"/>
            <a:ext cx="3768899" cy="29770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title"/>
          </p:nvPr>
        </p:nvSpPr>
        <p:spPr>
          <a:xfrm>
            <a:off x="0" y="0"/>
            <a:ext cx="9144000" cy="884400"/>
          </a:xfrm>
          <a:prstGeom prst="rect">
            <a:avLst/>
          </a:prstGeom>
        </p:spPr>
        <p:txBody>
          <a:bodyPr lIns="91425" tIns="91425" rIns="91425" bIns="91425" anchor="ctr" anchorCtr="0">
            <a:noAutofit/>
          </a:bodyPr>
          <a:lstStyle/>
          <a:p>
            <a:pPr lvl="0">
              <a:spcBef>
                <a:spcPts val="0"/>
              </a:spcBef>
              <a:buNone/>
            </a:pPr>
            <a:r>
              <a:rPr lang="en-GB"/>
              <a:t>Results</a:t>
            </a:r>
          </a:p>
        </p:txBody>
      </p:sp>
      <p:sp>
        <p:nvSpPr>
          <p:cNvPr id="121" name="Shape 121"/>
          <p:cNvSpPr txBox="1">
            <a:spLocks noGrp="1"/>
          </p:cNvSpPr>
          <p:nvPr>
            <p:ph type="body" idx="1"/>
          </p:nvPr>
        </p:nvSpPr>
        <p:spPr>
          <a:xfrm>
            <a:off x="395536" y="987574"/>
            <a:ext cx="8496900" cy="460500"/>
          </a:xfrm>
          <a:prstGeom prst="rect">
            <a:avLst/>
          </a:prstGeom>
        </p:spPr>
        <p:txBody>
          <a:bodyPr lIns="91425" tIns="91425" rIns="91425" bIns="91425" anchor="ctr" anchorCtr="0">
            <a:noAutofit/>
          </a:bodyPr>
          <a:lstStyle/>
          <a:p>
            <a:pPr lvl="0">
              <a:spcBef>
                <a:spcPts val="0"/>
              </a:spcBef>
              <a:buNone/>
            </a:pPr>
            <a:r>
              <a:rPr lang="en-GB"/>
              <a:t>Area Statistics</a:t>
            </a:r>
          </a:p>
        </p:txBody>
      </p:sp>
      <p:sp>
        <p:nvSpPr>
          <p:cNvPr id="122" name="Shape 122"/>
          <p:cNvSpPr txBox="1">
            <a:spLocks noGrp="1"/>
          </p:cNvSpPr>
          <p:nvPr>
            <p:ph type="body" idx="2"/>
          </p:nvPr>
        </p:nvSpPr>
        <p:spPr>
          <a:xfrm>
            <a:off x="405880" y="1664243"/>
            <a:ext cx="8496900" cy="2995800"/>
          </a:xfrm>
          <a:prstGeom prst="rect">
            <a:avLst/>
          </a:prstGeom>
        </p:spPr>
        <p:txBody>
          <a:bodyPr lIns="91425" tIns="91425" rIns="91425" bIns="91425" anchor="t" anchorCtr="0">
            <a:noAutofit/>
          </a:bodyPr>
          <a:lstStyle/>
          <a:p>
            <a:pPr lvl="0">
              <a:spcBef>
                <a:spcPts val="0"/>
              </a:spcBef>
              <a:buNone/>
            </a:pPr>
            <a:endParaRPr/>
          </a:p>
        </p:txBody>
      </p:sp>
      <p:pic>
        <p:nvPicPr>
          <p:cNvPr id="123" name="Shape 123" descr="00000000000aaaaaaaaaaaaaaaaaaaaaa1111.PNG"/>
          <p:cNvPicPr preferRelativeResize="0"/>
          <p:nvPr/>
        </p:nvPicPr>
        <p:blipFill>
          <a:blip r:embed="rId3">
            <a:alphaModFix/>
          </a:blip>
          <a:stretch>
            <a:fillRect/>
          </a:stretch>
        </p:blipFill>
        <p:spPr>
          <a:xfrm>
            <a:off x="0" y="1615749"/>
            <a:ext cx="9143999" cy="29083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Shape 128"/>
          <p:cNvSpPr txBox="1">
            <a:spLocks noGrp="1"/>
          </p:cNvSpPr>
          <p:nvPr>
            <p:ph type="title"/>
          </p:nvPr>
        </p:nvSpPr>
        <p:spPr>
          <a:xfrm>
            <a:off x="0" y="0"/>
            <a:ext cx="9144000" cy="884466"/>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Sensitivity Analysis</a:t>
            </a:r>
          </a:p>
        </p:txBody>
      </p:sp>
      <p:sp>
        <p:nvSpPr>
          <p:cNvPr id="129" name="Shape 129"/>
          <p:cNvSpPr txBox="1"/>
          <p:nvPr/>
        </p:nvSpPr>
        <p:spPr>
          <a:xfrm>
            <a:off x="196348" y="1467376"/>
            <a:ext cx="1005483" cy="646331"/>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Income</a:t>
            </a:r>
          </a:p>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Tax</a:t>
            </a:r>
          </a:p>
        </p:txBody>
      </p:sp>
      <p:sp>
        <p:nvSpPr>
          <p:cNvPr id="130" name="Shape 130"/>
          <p:cNvSpPr txBox="1"/>
          <p:nvPr/>
        </p:nvSpPr>
        <p:spPr>
          <a:xfrm>
            <a:off x="7582007" y="1542855"/>
            <a:ext cx="1409256" cy="369332"/>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Income</a:t>
            </a:r>
          </a:p>
        </p:txBody>
      </p:sp>
      <p:sp>
        <p:nvSpPr>
          <p:cNvPr id="131" name="Shape 131"/>
          <p:cNvSpPr txBox="1"/>
          <p:nvPr/>
        </p:nvSpPr>
        <p:spPr>
          <a:xfrm>
            <a:off x="7640288" y="3536258"/>
            <a:ext cx="1350976" cy="369332"/>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Elevation</a:t>
            </a:r>
          </a:p>
        </p:txBody>
      </p:sp>
      <p:sp>
        <p:nvSpPr>
          <p:cNvPr id="132" name="Shape 132"/>
          <p:cNvSpPr txBox="1"/>
          <p:nvPr/>
        </p:nvSpPr>
        <p:spPr>
          <a:xfrm>
            <a:off x="32700" y="3286583"/>
            <a:ext cx="1332779" cy="92332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Vehicles Miles Travelled</a:t>
            </a:r>
          </a:p>
        </p:txBody>
      </p:sp>
      <p:pic>
        <p:nvPicPr>
          <p:cNvPr id="133" name="Shape 133"/>
          <p:cNvPicPr preferRelativeResize="0"/>
          <p:nvPr/>
        </p:nvPicPr>
        <p:blipFill rotWithShape="1">
          <a:blip r:embed="rId3">
            <a:alphaModFix/>
          </a:blip>
          <a:srcRect/>
          <a:stretch/>
        </p:blipFill>
        <p:spPr>
          <a:xfrm>
            <a:off x="4611619" y="2809988"/>
            <a:ext cx="2904980" cy="1929025"/>
          </a:xfrm>
          <a:prstGeom prst="rect">
            <a:avLst/>
          </a:prstGeom>
          <a:noFill/>
          <a:ln>
            <a:noFill/>
          </a:ln>
          <a:effectLst>
            <a:outerShdw blurRad="190500" algn="tl" rotWithShape="0">
              <a:srgbClr val="000000">
                <a:alpha val="69803"/>
              </a:srgbClr>
            </a:outerShdw>
          </a:effectLst>
        </p:spPr>
      </p:pic>
      <p:pic>
        <p:nvPicPr>
          <p:cNvPr id="134" name="Shape 134"/>
          <p:cNvPicPr preferRelativeResize="0"/>
          <p:nvPr/>
        </p:nvPicPr>
        <p:blipFill rotWithShape="1">
          <a:blip r:embed="rId4">
            <a:alphaModFix/>
          </a:blip>
          <a:srcRect/>
          <a:stretch/>
        </p:blipFill>
        <p:spPr>
          <a:xfrm>
            <a:off x="1365480" y="787554"/>
            <a:ext cx="3041175" cy="1888794"/>
          </a:xfrm>
          <a:prstGeom prst="rect">
            <a:avLst/>
          </a:prstGeom>
          <a:noFill/>
          <a:ln>
            <a:noFill/>
          </a:ln>
          <a:effectLst>
            <a:outerShdw blurRad="190500" algn="tl" rotWithShape="0">
              <a:srgbClr val="000000">
                <a:alpha val="69803"/>
              </a:srgbClr>
            </a:outerShdw>
          </a:effectLst>
        </p:spPr>
      </p:pic>
      <p:pic>
        <p:nvPicPr>
          <p:cNvPr id="135" name="Shape 135"/>
          <p:cNvPicPr preferRelativeResize="0"/>
          <p:nvPr/>
        </p:nvPicPr>
        <p:blipFill rotWithShape="1">
          <a:blip r:embed="rId5">
            <a:alphaModFix/>
          </a:blip>
          <a:srcRect/>
          <a:stretch/>
        </p:blipFill>
        <p:spPr>
          <a:xfrm>
            <a:off x="4603648" y="787554"/>
            <a:ext cx="2904980" cy="1879935"/>
          </a:xfrm>
          <a:prstGeom prst="rect">
            <a:avLst/>
          </a:prstGeom>
          <a:noFill/>
          <a:ln>
            <a:noFill/>
          </a:ln>
          <a:effectLst>
            <a:outerShdw blurRad="190500" algn="tl" rotWithShape="0">
              <a:srgbClr val="000000">
                <a:alpha val="69803"/>
              </a:srgbClr>
            </a:outerShdw>
          </a:effectLst>
        </p:spPr>
      </p:pic>
      <p:pic>
        <p:nvPicPr>
          <p:cNvPr id="136" name="Shape 136"/>
          <p:cNvPicPr preferRelativeResize="0"/>
          <p:nvPr/>
        </p:nvPicPr>
        <p:blipFill rotWithShape="1">
          <a:blip r:embed="rId6">
            <a:alphaModFix/>
          </a:blip>
          <a:srcRect/>
          <a:stretch/>
        </p:blipFill>
        <p:spPr>
          <a:xfrm>
            <a:off x="1365480" y="2783735"/>
            <a:ext cx="3041175" cy="1936329"/>
          </a:xfrm>
          <a:prstGeom prst="rect">
            <a:avLst/>
          </a:prstGeom>
          <a:noFill/>
          <a:ln>
            <a:noFill/>
          </a:ln>
          <a:effectLst>
            <a:outerShdw blurRad="190500" algn="tl" rotWithShape="0">
              <a:srgbClr val="000000">
                <a:alpha val="69803"/>
              </a:srgbClr>
            </a:outerShdw>
          </a:effectLst>
        </p:spPr>
      </p:pic>
      <p:grpSp>
        <p:nvGrpSpPr>
          <p:cNvPr id="137" name="Shape 137"/>
          <p:cNvGrpSpPr/>
          <p:nvPr/>
        </p:nvGrpSpPr>
        <p:grpSpPr>
          <a:xfrm>
            <a:off x="7794394" y="2442594"/>
            <a:ext cx="1288015" cy="682282"/>
            <a:chOff x="7765365" y="4346917"/>
            <a:chExt cx="1288015" cy="682282"/>
          </a:xfrm>
        </p:grpSpPr>
        <p:sp>
          <p:nvSpPr>
            <p:cNvPr id="138" name="Shape 138"/>
            <p:cNvSpPr/>
            <p:nvPr/>
          </p:nvSpPr>
          <p:spPr>
            <a:xfrm>
              <a:off x="7765365" y="4346917"/>
              <a:ext cx="1225897" cy="682282"/>
            </a:xfrm>
            <a:prstGeom prst="rect">
              <a:avLst/>
            </a:prstGeom>
            <a:solidFill>
              <a:schemeClr val="lt1"/>
            </a:solidFill>
            <a:ln w="9525" cap="flat" cmpd="sng">
              <a:solidFill>
                <a:schemeClr val="dk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139" name="Shape 139"/>
            <p:cNvSpPr/>
            <p:nvPr/>
          </p:nvSpPr>
          <p:spPr>
            <a:xfrm>
              <a:off x="7891975" y="4459457"/>
              <a:ext cx="309489" cy="189914"/>
            </a:xfrm>
            <a:prstGeom prst="rect">
              <a:avLst/>
            </a:prstGeom>
            <a:solidFill>
              <a:srgbClr val="8FF9BA"/>
            </a:solidFill>
            <a:ln w="9525" cap="flat" cmpd="sng">
              <a:solidFill>
                <a:schemeClr val="dk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Arial"/>
                <a:buNone/>
              </a:pPr>
              <a:r>
                <a:rPr lang="en-GB" sz="900" b="0" i="0" u="none" strike="noStrike" cap="none">
                  <a:solidFill>
                    <a:schemeClr val="dk1"/>
                  </a:solidFill>
                  <a:latin typeface="Arial"/>
                  <a:ea typeface="Arial"/>
                  <a:cs typeface="Arial"/>
                  <a:sym typeface="Arial"/>
                </a:rPr>
                <a:t>1</a:t>
              </a:r>
            </a:p>
          </p:txBody>
        </p:sp>
        <p:sp>
          <p:nvSpPr>
            <p:cNvPr id="140" name="Shape 140"/>
            <p:cNvSpPr/>
            <p:nvPr/>
          </p:nvSpPr>
          <p:spPr>
            <a:xfrm>
              <a:off x="7891975" y="4740896"/>
              <a:ext cx="309489" cy="189914"/>
            </a:xfrm>
            <a:prstGeom prst="rect">
              <a:avLst/>
            </a:prstGeom>
            <a:solidFill>
              <a:schemeClr val="lt1"/>
            </a:solidFill>
            <a:ln w="9525" cap="flat" cmpd="sng">
              <a:solidFill>
                <a:schemeClr val="dk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Arial"/>
                <a:buNone/>
              </a:pPr>
              <a:r>
                <a:rPr lang="en-GB" sz="1000" b="0" i="0" u="none" strike="noStrike" cap="none">
                  <a:solidFill>
                    <a:schemeClr val="dk1"/>
                  </a:solidFill>
                  <a:latin typeface="Arial"/>
                  <a:ea typeface="Arial"/>
                  <a:cs typeface="Arial"/>
                  <a:sym typeface="Arial"/>
                </a:rPr>
                <a:t>0</a:t>
              </a:r>
            </a:p>
          </p:txBody>
        </p:sp>
        <p:sp>
          <p:nvSpPr>
            <p:cNvPr id="141" name="Shape 141"/>
            <p:cNvSpPr txBox="1"/>
            <p:nvPr/>
          </p:nvSpPr>
          <p:spPr>
            <a:xfrm>
              <a:off x="8178242" y="4441837"/>
              <a:ext cx="679993" cy="24622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GB" sz="1000" b="0" i="0" u="none" strike="noStrike" cap="none">
                  <a:solidFill>
                    <a:srgbClr val="000000"/>
                  </a:solidFill>
                  <a:latin typeface="Arial"/>
                  <a:ea typeface="Arial"/>
                  <a:cs typeface="Arial"/>
                  <a:sym typeface="Arial"/>
                </a:rPr>
                <a:t>Selected</a:t>
              </a:r>
            </a:p>
          </p:txBody>
        </p:sp>
        <p:sp>
          <p:nvSpPr>
            <p:cNvPr id="142" name="Shape 142"/>
            <p:cNvSpPr txBox="1"/>
            <p:nvPr/>
          </p:nvSpPr>
          <p:spPr>
            <a:xfrm>
              <a:off x="8139347" y="4714310"/>
              <a:ext cx="914032" cy="24622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GB" sz="1000" b="0" i="0" u="none" strike="noStrike" cap="none">
                  <a:solidFill>
                    <a:srgbClr val="000000"/>
                  </a:solidFill>
                  <a:latin typeface="Arial"/>
                  <a:ea typeface="Arial"/>
                  <a:cs typeface="Arial"/>
                  <a:sym typeface="Arial"/>
                </a:rPr>
                <a:t>Not Selected</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title"/>
          </p:nvPr>
        </p:nvSpPr>
        <p:spPr>
          <a:xfrm>
            <a:off x="0" y="0"/>
            <a:ext cx="9144000" cy="884466"/>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Sensitivity Analysis (contd.)</a:t>
            </a:r>
          </a:p>
        </p:txBody>
      </p:sp>
      <p:sp>
        <p:nvSpPr>
          <p:cNvPr id="148" name="Shape 148"/>
          <p:cNvSpPr txBox="1"/>
          <p:nvPr/>
        </p:nvSpPr>
        <p:spPr>
          <a:xfrm>
            <a:off x="302353" y="1467376"/>
            <a:ext cx="1005483" cy="646331"/>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House price</a:t>
            </a:r>
          </a:p>
        </p:txBody>
      </p:sp>
      <p:sp>
        <p:nvSpPr>
          <p:cNvPr id="149" name="Shape 149"/>
          <p:cNvSpPr txBox="1"/>
          <p:nvPr/>
        </p:nvSpPr>
        <p:spPr>
          <a:xfrm>
            <a:off x="7575978" y="1466916"/>
            <a:ext cx="1409256" cy="646331"/>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Population density</a:t>
            </a:r>
          </a:p>
        </p:txBody>
      </p:sp>
      <p:pic>
        <p:nvPicPr>
          <p:cNvPr id="150" name="Shape 150"/>
          <p:cNvPicPr preferRelativeResize="0"/>
          <p:nvPr/>
        </p:nvPicPr>
        <p:blipFill rotWithShape="1">
          <a:blip r:embed="rId3">
            <a:alphaModFix/>
          </a:blip>
          <a:srcRect/>
          <a:stretch/>
        </p:blipFill>
        <p:spPr>
          <a:xfrm>
            <a:off x="1307836" y="2855608"/>
            <a:ext cx="2979245" cy="1986457"/>
          </a:xfrm>
          <a:prstGeom prst="rect">
            <a:avLst/>
          </a:prstGeom>
          <a:noFill/>
          <a:ln>
            <a:noFill/>
          </a:ln>
          <a:effectLst>
            <a:outerShdw blurRad="292100" dist="139700" dir="2700000" algn="tl" rotWithShape="0">
              <a:srgbClr val="333333">
                <a:alpha val="64705"/>
              </a:srgbClr>
            </a:outerShdw>
          </a:effectLst>
        </p:spPr>
      </p:pic>
      <p:pic>
        <p:nvPicPr>
          <p:cNvPr id="151" name="Shape 151"/>
          <p:cNvPicPr preferRelativeResize="0"/>
          <p:nvPr/>
        </p:nvPicPr>
        <p:blipFill rotWithShape="1">
          <a:blip r:embed="rId4">
            <a:alphaModFix/>
          </a:blip>
          <a:srcRect/>
          <a:stretch/>
        </p:blipFill>
        <p:spPr>
          <a:xfrm>
            <a:off x="4500105" y="2889672"/>
            <a:ext cx="2986413" cy="1952394"/>
          </a:xfrm>
          <a:prstGeom prst="rect">
            <a:avLst/>
          </a:prstGeom>
          <a:noFill/>
          <a:ln>
            <a:noFill/>
          </a:ln>
          <a:effectLst>
            <a:outerShdw blurRad="292100" dist="139700" dir="2700000" algn="tl" rotWithShape="0">
              <a:srgbClr val="333333">
                <a:alpha val="64705"/>
              </a:srgbClr>
            </a:outerShdw>
          </a:effectLst>
        </p:spPr>
      </p:pic>
      <p:pic>
        <p:nvPicPr>
          <p:cNvPr id="152" name="Shape 152"/>
          <p:cNvPicPr preferRelativeResize="0"/>
          <p:nvPr/>
        </p:nvPicPr>
        <p:blipFill rotWithShape="1">
          <a:blip r:embed="rId5">
            <a:alphaModFix/>
          </a:blip>
          <a:srcRect/>
          <a:stretch/>
        </p:blipFill>
        <p:spPr>
          <a:xfrm>
            <a:off x="4500105" y="758616"/>
            <a:ext cx="2986413" cy="1937082"/>
          </a:xfrm>
          <a:prstGeom prst="rect">
            <a:avLst/>
          </a:prstGeom>
          <a:noFill/>
          <a:ln>
            <a:noFill/>
          </a:ln>
          <a:effectLst>
            <a:outerShdw blurRad="292100" dist="139700" dir="2700000" algn="tl" rotWithShape="0">
              <a:srgbClr val="333333">
                <a:alpha val="64705"/>
              </a:srgbClr>
            </a:outerShdw>
          </a:effectLst>
        </p:spPr>
      </p:pic>
      <p:pic>
        <p:nvPicPr>
          <p:cNvPr id="153" name="Shape 153"/>
          <p:cNvPicPr preferRelativeResize="0"/>
          <p:nvPr/>
        </p:nvPicPr>
        <p:blipFill rotWithShape="1">
          <a:blip r:embed="rId6">
            <a:alphaModFix/>
          </a:blip>
          <a:srcRect/>
          <a:stretch/>
        </p:blipFill>
        <p:spPr>
          <a:xfrm>
            <a:off x="1307836" y="758616"/>
            <a:ext cx="2979245" cy="1937082"/>
          </a:xfrm>
          <a:prstGeom prst="rect">
            <a:avLst/>
          </a:prstGeom>
          <a:noFill/>
          <a:ln>
            <a:noFill/>
          </a:ln>
          <a:effectLst>
            <a:outerShdw blurRad="292100" dist="139700" dir="2700000" algn="tl" rotWithShape="0">
              <a:srgbClr val="333333">
                <a:alpha val="64705"/>
              </a:srgbClr>
            </a:outerShdw>
          </a:effectLst>
        </p:spPr>
      </p:pic>
      <p:sp>
        <p:nvSpPr>
          <p:cNvPr id="154" name="Shape 154"/>
          <p:cNvSpPr txBox="1"/>
          <p:nvPr/>
        </p:nvSpPr>
        <p:spPr>
          <a:xfrm>
            <a:off x="7605118" y="3290235"/>
            <a:ext cx="1350976" cy="92332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Total</a:t>
            </a:r>
          </a:p>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CO2</a:t>
            </a:r>
          </a:p>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Emission</a:t>
            </a:r>
          </a:p>
        </p:txBody>
      </p:sp>
      <p:sp>
        <p:nvSpPr>
          <p:cNvPr id="155" name="Shape 155"/>
          <p:cNvSpPr txBox="1"/>
          <p:nvPr/>
        </p:nvSpPr>
        <p:spPr>
          <a:xfrm>
            <a:off x="32701" y="3567235"/>
            <a:ext cx="1332779" cy="646331"/>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Property</a:t>
            </a:r>
          </a:p>
          <a:p>
            <a:pPr marL="0" marR="0" lvl="0" indent="0" algn="ctr" rtl="0">
              <a:lnSpc>
                <a:spcPct val="100000"/>
              </a:lnSpc>
              <a:spcBef>
                <a:spcPts val="0"/>
              </a:spcBef>
              <a:spcAft>
                <a:spcPts val="0"/>
              </a:spcAft>
              <a:buClr>
                <a:srgbClr val="000000"/>
              </a:buClr>
              <a:buSzPct val="25000"/>
              <a:buFont typeface="Arial"/>
              <a:buNone/>
            </a:pPr>
            <a:r>
              <a:rPr lang="en-GB" sz="1800" b="0" i="0" u="none" strike="noStrike" cap="none">
                <a:solidFill>
                  <a:srgbClr val="000000"/>
                </a:solidFill>
                <a:latin typeface="Arial"/>
                <a:ea typeface="Arial"/>
                <a:cs typeface="Arial"/>
                <a:sym typeface="Arial"/>
              </a:rPr>
              <a:t>Tax</a:t>
            </a:r>
          </a:p>
        </p:txBody>
      </p:sp>
      <p:grpSp>
        <p:nvGrpSpPr>
          <p:cNvPr id="156" name="Shape 156"/>
          <p:cNvGrpSpPr/>
          <p:nvPr/>
        </p:nvGrpSpPr>
        <p:grpSpPr>
          <a:xfrm>
            <a:off x="7794394" y="2442594"/>
            <a:ext cx="1288015" cy="682282"/>
            <a:chOff x="7765365" y="4346917"/>
            <a:chExt cx="1288015" cy="682282"/>
          </a:xfrm>
        </p:grpSpPr>
        <p:sp>
          <p:nvSpPr>
            <p:cNvPr id="157" name="Shape 157"/>
            <p:cNvSpPr/>
            <p:nvPr/>
          </p:nvSpPr>
          <p:spPr>
            <a:xfrm>
              <a:off x="7765365" y="4346917"/>
              <a:ext cx="1225897" cy="682282"/>
            </a:xfrm>
            <a:prstGeom prst="rect">
              <a:avLst/>
            </a:prstGeom>
            <a:solidFill>
              <a:schemeClr val="lt1"/>
            </a:solidFill>
            <a:ln w="9525" cap="flat" cmpd="sng">
              <a:solidFill>
                <a:schemeClr val="dk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158" name="Shape 158"/>
            <p:cNvSpPr/>
            <p:nvPr/>
          </p:nvSpPr>
          <p:spPr>
            <a:xfrm>
              <a:off x="7891975" y="4459457"/>
              <a:ext cx="309489" cy="189914"/>
            </a:xfrm>
            <a:prstGeom prst="rect">
              <a:avLst/>
            </a:prstGeom>
            <a:solidFill>
              <a:srgbClr val="8FF9BA"/>
            </a:solidFill>
            <a:ln w="9525" cap="flat" cmpd="sng">
              <a:solidFill>
                <a:schemeClr val="dk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Arial"/>
                <a:buNone/>
              </a:pPr>
              <a:r>
                <a:rPr lang="en-GB" sz="900" b="0" i="0" u="none" strike="noStrike" cap="none">
                  <a:solidFill>
                    <a:schemeClr val="dk1"/>
                  </a:solidFill>
                  <a:latin typeface="Arial"/>
                  <a:ea typeface="Arial"/>
                  <a:cs typeface="Arial"/>
                  <a:sym typeface="Arial"/>
                </a:rPr>
                <a:t>1</a:t>
              </a:r>
            </a:p>
          </p:txBody>
        </p:sp>
        <p:sp>
          <p:nvSpPr>
            <p:cNvPr id="159" name="Shape 159"/>
            <p:cNvSpPr/>
            <p:nvPr/>
          </p:nvSpPr>
          <p:spPr>
            <a:xfrm>
              <a:off x="7891975" y="4740896"/>
              <a:ext cx="309489" cy="189914"/>
            </a:xfrm>
            <a:prstGeom prst="rect">
              <a:avLst/>
            </a:prstGeom>
            <a:solidFill>
              <a:schemeClr val="lt1"/>
            </a:solidFill>
            <a:ln w="9525" cap="flat" cmpd="sng">
              <a:solidFill>
                <a:schemeClr val="dk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Arial"/>
                <a:buNone/>
              </a:pPr>
              <a:r>
                <a:rPr lang="en-GB" sz="1000" b="0" i="0" u="none" strike="noStrike" cap="none">
                  <a:solidFill>
                    <a:schemeClr val="dk1"/>
                  </a:solidFill>
                  <a:latin typeface="Arial"/>
                  <a:ea typeface="Arial"/>
                  <a:cs typeface="Arial"/>
                  <a:sym typeface="Arial"/>
                </a:rPr>
                <a:t>0</a:t>
              </a:r>
            </a:p>
          </p:txBody>
        </p:sp>
        <p:sp>
          <p:nvSpPr>
            <p:cNvPr id="160" name="Shape 160"/>
            <p:cNvSpPr txBox="1"/>
            <p:nvPr/>
          </p:nvSpPr>
          <p:spPr>
            <a:xfrm>
              <a:off x="8178242" y="4441837"/>
              <a:ext cx="679993" cy="24622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GB" sz="1000" b="0" i="0" u="none" strike="noStrike" cap="none">
                  <a:solidFill>
                    <a:srgbClr val="000000"/>
                  </a:solidFill>
                  <a:latin typeface="Arial"/>
                  <a:ea typeface="Arial"/>
                  <a:cs typeface="Arial"/>
                  <a:sym typeface="Arial"/>
                </a:rPr>
                <a:t>Selected</a:t>
              </a:r>
            </a:p>
          </p:txBody>
        </p:sp>
        <p:sp>
          <p:nvSpPr>
            <p:cNvPr id="161" name="Shape 161"/>
            <p:cNvSpPr txBox="1"/>
            <p:nvPr/>
          </p:nvSpPr>
          <p:spPr>
            <a:xfrm>
              <a:off x="8139347" y="4714310"/>
              <a:ext cx="914032" cy="24622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GB" sz="1000" b="0" i="0" u="none" strike="noStrike" cap="none">
                  <a:solidFill>
                    <a:srgbClr val="000000"/>
                  </a:solidFill>
                  <a:latin typeface="Arial"/>
                  <a:ea typeface="Arial"/>
                  <a:cs typeface="Arial"/>
                  <a:sym typeface="Arial"/>
                </a:rPr>
                <a:t>Not Selected</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Shape 166"/>
          <p:cNvSpPr txBox="1">
            <a:spLocks noGrp="1"/>
          </p:cNvSpPr>
          <p:nvPr>
            <p:ph type="title"/>
          </p:nvPr>
        </p:nvSpPr>
        <p:spPr>
          <a:xfrm>
            <a:off x="154525" y="85200"/>
            <a:ext cx="9144000" cy="884400"/>
          </a:xfrm>
          <a:prstGeom prst="rect">
            <a:avLst/>
          </a:prstGeom>
          <a:noFill/>
          <a:ln>
            <a:noFill/>
          </a:ln>
        </p:spPr>
        <p:txBody>
          <a:bodyPr lIns="91425" tIns="45700" rIns="91425" bIns="45700" anchor="ctr" anchorCtr="0">
            <a:noAutofit/>
          </a:bodyPr>
          <a:lstStyle/>
          <a:p>
            <a:pPr marL="0" marR="0" lvl="0" indent="0" algn="l" rtl="0">
              <a:spcBef>
                <a:spcPts val="0"/>
              </a:spcBef>
              <a:buClr>
                <a:srgbClr val="3F3F3F"/>
              </a:buClr>
              <a:buSzPct val="25000"/>
              <a:buFont typeface="Arial"/>
              <a:buNone/>
            </a:pPr>
            <a:r>
              <a:rPr lang="en-GB" sz="3600" b="1" i="0" u="none" strike="noStrike" cap="none">
                <a:solidFill>
                  <a:srgbClr val="3F3F3F"/>
                </a:solidFill>
                <a:latin typeface="Arial"/>
                <a:ea typeface="Arial"/>
                <a:cs typeface="Arial"/>
                <a:sym typeface="Arial"/>
              </a:rPr>
              <a:t>Further Insights</a:t>
            </a:r>
          </a:p>
        </p:txBody>
      </p:sp>
      <p:sp>
        <p:nvSpPr>
          <p:cNvPr id="167" name="Shape 167"/>
          <p:cNvSpPr txBox="1">
            <a:spLocks noGrp="1"/>
          </p:cNvSpPr>
          <p:nvPr>
            <p:ph type="body" idx="1"/>
          </p:nvPr>
        </p:nvSpPr>
        <p:spPr>
          <a:xfrm>
            <a:off x="405886" y="969599"/>
            <a:ext cx="8496900" cy="460500"/>
          </a:xfrm>
          <a:prstGeom prst="rect">
            <a:avLst/>
          </a:prstGeom>
          <a:noFill/>
          <a:ln>
            <a:noFill/>
          </a:ln>
        </p:spPr>
        <p:txBody>
          <a:bodyPr lIns="91425" tIns="45700" rIns="91425" bIns="45700" anchor="ctr" anchorCtr="0">
            <a:noAutofit/>
          </a:bodyPr>
          <a:lstStyle/>
          <a:p>
            <a:pPr marL="0" marR="0" lvl="0" indent="0" algn="l" rtl="0">
              <a:spcBef>
                <a:spcPts val="0"/>
              </a:spcBef>
              <a:buClr>
                <a:srgbClr val="3F3F3F"/>
              </a:buClr>
              <a:buSzPct val="25000"/>
              <a:buFont typeface="Arial"/>
              <a:buNone/>
            </a:pPr>
            <a:r>
              <a:rPr lang="en-GB" sz="2000" b="1" i="0" u="none" strike="noStrike" cap="none">
                <a:solidFill>
                  <a:srgbClr val="3F3F3F"/>
                </a:solidFill>
                <a:latin typeface="Arial"/>
                <a:ea typeface="Arial"/>
                <a:cs typeface="Arial"/>
                <a:sym typeface="Arial"/>
              </a:rPr>
              <a:t>Average House Value </a:t>
            </a:r>
          </a:p>
        </p:txBody>
      </p:sp>
      <p:sp>
        <p:nvSpPr>
          <p:cNvPr id="168" name="Shape 168"/>
          <p:cNvSpPr txBox="1">
            <a:spLocks noGrp="1"/>
          </p:cNvSpPr>
          <p:nvPr>
            <p:ph type="body" idx="2"/>
          </p:nvPr>
        </p:nvSpPr>
        <p:spPr>
          <a:xfrm>
            <a:off x="405880" y="1664244"/>
            <a:ext cx="8496900" cy="2995800"/>
          </a:xfrm>
          <a:prstGeom prst="rect">
            <a:avLst/>
          </a:prstGeom>
          <a:noFill/>
          <a:ln>
            <a:noFill/>
          </a:ln>
        </p:spPr>
        <p:txBody>
          <a:bodyPr lIns="396000" tIns="45700" rIns="91425" bIns="45700" anchor="t" anchorCtr="0">
            <a:noAutofit/>
          </a:bodyPr>
          <a:lstStyle/>
          <a:p>
            <a:pPr marL="457200" marR="0" lvl="0" indent="-342900" algn="l" rtl="0">
              <a:spcBef>
                <a:spcPts val="0"/>
              </a:spcBef>
              <a:buClr>
                <a:srgbClr val="3F3F3F"/>
              </a:buClr>
              <a:buSzPct val="100000"/>
              <a:buFont typeface="Arial"/>
              <a:buChar char="●"/>
            </a:pPr>
            <a:r>
              <a:rPr lang="en-GB" sz="1800"/>
              <a:t>House value range</a:t>
            </a:r>
          </a:p>
          <a:p>
            <a:pPr marL="914400" marR="0" lvl="1" indent="-342900" algn="l" rtl="0">
              <a:spcBef>
                <a:spcPts val="0"/>
              </a:spcBef>
              <a:buSzPct val="100000"/>
            </a:pPr>
            <a:r>
              <a:rPr lang="en-GB" sz="1800"/>
              <a:t>$200K to $ 1 million</a:t>
            </a:r>
          </a:p>
          <a:p>
            <a:pPr marL="0" marR="0" lvl="0" indent="0" algn="l" rtl="0">
              <a:spcBef>
                <a:spcPts val="0"/>
              </a:spcBef>
              <a:buNone/>
            </a:pPr>
            <a:endParaRPr sz="1800"/>
          </a:p>
          <a:p>
            <a:pPr marL="457200" marR="0" lvl="0" indent="-342900" algn="l" rtl="0">
              <a:spcBef>
                <a:spcPts val="0"/>
              </a:spcBef>
              <a:buSzPct val="100000"/>
              <a:buChar char="●"/>
            </a:pPr>
            <a:r>
              <a:rPr lang="en-GB" sz="1800"/>
              <a:t>Increased CO2 levels</a:t>
            </a:r>
          </a:p>
          <a:p>
            <a:pPr marR="0" lvl="0" algn="l" rtl="0">
              <a:spcBef>
                <a:spcPts val="0"/>
              </a:spcBef>
              <a:buNone/>
            </a:pPr>
            <a:endParaRPr sz="1800"/>
          </a:p>
          <a:p>
            <a:pPr marL="457200" marR="0" lvl="0" indent="-342900" algn="l" rtl="0">
              <a:spcBef>
                <a:spcPts val="0"/>
              </a:spcBef>
              <a:buSzPct val="100000"/>
              <a:buChar char="●"/>
            </a:pPr>
            <a:r>
              <a:rPr lang="en-GB" sz="1800"/>
              <a:t>Increased Average Income</a:t>
            </a:r>
          </a:p>
          <a:p>
            <a:pPr marR="0" lvl="0" algn="l" rtl="0">
              <a:spcBef>
                <a:spcPts val="0"/>
              </a:spcBef>
              <a:buNone/>
            </a:pPr>
            <a:endParaRPr sz="1800"/>
          </a:p>
          <a:p>
            <a:pPr marL="457200" marR="0" lvl="0" indent="-342900" algn="l" rtl="0">
              <a:spcBef>
                <a:spcPts val="0"/>
              </a:spcBef>
              <a:buSzPct val="100000"/>
              <a:buChar char="●"/>
            </a:pPr>
            <a:r>
              <a:rPr lang="en-GB" sz="1800"/>
              <a:t>Decreased Vehicle Miles</a:t>
            </a:r>
          </a:p>
          <a:p>
            <a:pPr marL="457200" marR="0" lvl="0" indent="0" algn="l" rtl="0">
              <a:spcBef>
                <a:spcPts val="0"/>
              </a:spcBef>
              <a:buNone/>
            </a:pPr>
            <a:endParaRPr sz="1200"/>
          </a:p>
          <a:p>
            <a:pPr marL="0" marR="0" lvl="0" indent="0" algn="l" rtl="0">
              <a:spcBef>
                <a:spcPts val="0"/>
              </a:spcBef>
              <a:buNone/>
            </a:pPr>
            <a:endParaRPr sz="1200"/>
          </a:p>
        </p:txBody>
      </p:sp>
      <p:pic>
        <p:nvPicPr>
          <p:cNvPr id="169" name="Shape 169"/>
          <p:cNvPicPr preferRelativeResize="0"/>
          <p:nvPr/>
        </p:nvPicPr>
        <p:blipFill>
          <a:blip r:embed="rId3">
            <a:alphaModFix/>
          </a:blip>
          <a:stretch>
            <a:fillRect/>
          </a:stretch>
        </p:blipFill>
        <p:spPr>
          <a:xfrm>
            <a:off x="4256175" y="1244825"/>
            <a:ext cx="4701850" cy="2995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Shape 174"/>
          <p:cNvPicPr preferRelativeResize="0"/>
          <p:nvPr/>
        </p:nvPicPr>
        <p:blipFill rotWithShape="1">
          <a:blip r:embed="rId3">
            <a:alphaModFix/>
          </a:blip>
          <a:srcRect l="16032" r="16031"/>
          <a:stretch/>
        </p:blipFill>
        <p:spPr>
          <a:xfrm>
            <a:off x="5195012" y="1346575"/>
            <a:ext cx="3232596" cy="2384200"/>
          </a:xfrm>
          <a:prstGeom prst="rect">
            <a:avLst/>
          </a:prstGeom>
          <a:noFill/>
          <a:ln w="76200" cap="flat" cmpd="dbl">
            <a:solidFill>
              <a:schemeClr val="lt1"/>
            </a:solidFill>
            <a:prstDash val="solid"/>
            <a:miter/>
            <a:headEnd type="none" w="med" len="med"/>
            <a:tailEnd type="none" w="med" len="med"/>
          </a:ln>
        </p:spPr>
      </p:pic>
      <p:sp>
        <p:nvSpPr>
          <p:cNvPr id="175" name="Shape 175"/>
          <p:cNvSpPr txBox="1">
            <a:spLocks noGrp="1"/>
          </p:cNvSpPr>
          <p:nvPr>
            <p:ph type="title"/>
          </p:nvPr>
        </p:nvSpPr>
        <p:spPr>
          <a:xfrm>
            <a:off x="172300" y="49650"/>
            <a:ext cx="3978000" cy="8268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Further Insights </a:t>
            </a:r>
          </a:p>
        </p:txBody>
      </p:sp>
      <p:sp>
        <p:nvSpPr>
          <p:cNvPr id="176" name="Shape 176"/>
          <p:cNvSpPr txBox="1">
            <a:spLocks noGrp="1"/>
          </p:cNvSpPr>
          <p:nvPr>
            <p:ph type="body" idx="1"/>
          </p:nvPr>
        </p:nvSpPr>
        <p:spPr>
          <a:xfrm>
            <a:off x="172300" y="1620895"/>
            <a:ext cx="4779452" cy="2831529"/>
          </a:xfrm>
          <a:prstGeom prst="rect">
            <a:avLst/>
          </a:prstGeom>
          <a:noFill/>
          <a:ln>
            <a:noFill/>
          </a:ln>
        </p:spPr>
        <p:txBody>
          <a:bodyPr lIns="91425" tIns="91425" rIns="91425" bIns="91425" anchor="t" anchorCtr="0">
            <a:noAutofit/>
          </a:bodyPr>
          <a:lstStyle/>
          <a:p>
            <a:pPr marL="457200" marR="0" lvl="0" indent="-228600" algn="l" rtl="0">
              <a:lnSpc>
                <a:spcPct val="100000"/>
              </a:lnSpc>
              <a:spcBef>
                <a:spcPts val="0"/>
              </a:spcBef>
              <a:spcAft>
                <a:spcPts val="0"/>
              </a:spcAft>
              <a:buClr>
                <a:srgbClr val="000000"/>
              </a:buClr>
              <a:buSzPct val="100000"/>
              <a:buFont typeface="Arial"/>
              <a:buChar char="●"/>
            </a:pPr>
            <a:r>
              <a:rPr lang="en-GB" sz="2000" b="0" i="0" u="none" strike="noStrike" cap="none">
                <a:solidFill>
                  <a:srgbClr val="000000"/>
                </a:solidFill>
                <a:latin typeface="Arial"/>
                <a:ea typeface="Arial"/>
                <a:cs typeface="Arial"/>
                <a:sym typeface="Arial"/>
              </a:rPr>
              <a:t>Analysis on top 50 cities having an income between 75,000 – 125,000 sorted based on lowest CO2</a:t>
            </a:r>
          </a:p>
          <a:p>
            <a:pPr marR="0" lvl="0" algn="l" rtl="0">
              <a:lnSpc>
                <a:spcPct val="100000"/>
              </a:lnSpc>
              <a:spcBef>
                <a:spcPts val="0"/>
              </a:spcBef>
              <a:spcAft>
                <a:spcPts val="0"/>
              </a:spcAft>
              <a:buNone/>
            </a:pPr>
            <a:endParaRPr sz="600">
              <a:solidFill>
                <a:srgbClr val="000000"/>
              </a:solidFill>
            </a:endParaRPr>
          </a:p>
          <a:p>
            <a:pPr marL="457200" marR="0" lvl="0" indent="-228600" algn="l" rtl="0">
              <a:lnSpc>
                <a:spcPct val="100000"/>
              </a:lnSpc>
              <a:spcBef>
                <a:spcPts val="0"/>
              </a:spcBef>
              <a:spcAft>
                <a:spcPts val="0"/>
              </a:spcAft>
              <a:buClr>
                <a:srgbClr val="000000"/>
              </a:buClr>
              <a:buSzPct val="100000"/>
              <a:buFont typeface="Arial"/>
              <a:buChar char="●"/>
            </a:pPr>
            <a:r>
              <a:rPr lang="en-GB" sz="2000" b="0" i="0" u="none" strike="noStrike" cap="none">
                <a:solidFill>
                  <a:srgbClr val="000000"/>
                </a:solidFill>
                <a:latin typeface="Arial"/>
                <a:ea typeface="Arial"/>
                <a:cs typeface="Arial"/>
                <a:sym typeface="Arial"/>
              </a:rPr>
              <a:t>General Observations and Comparative analysis:</a:t>
            </a:r>
          </a:p>
          <a:p>
            <a:pPr marL="914400" marR="0" lvl="1" indent="-228600" algn="l" rtl="0">
              <a:lnSpc>
                <a:spcPct val="100000"/>
              </a:lnSpc>
              <a:spcBef>
                <a:spcPts val="0"/>
              </a:spcBef>
              <a:spcAft>
                <a:spcPts val="0"/>
              </a:spcAft>
              <a:buClr>
                <a:srgbClr val="000000"/>
              </a:buClr>
              <a:buSzPct val="100000"/>
              <a:buFont typeface="Arial"/>
              <a:buChar char="–"/>
            </a:pPr>
            <a:r>
              <a:rPr lang="en-GB" sz="1600" b="0" i="0" u="none" strike="noStrike" cap="none">
                <a:solidFill>
                  <a:srgbClr val="000000"/>
                </a:solidFill>
                <a:latin typeface="Arial"/>
                <a:ea typeface="Arial"/>
                <a:cs typeface="Arial"/>
                <a:sym typeface="Arial"/>
              </a:rPr>
              <a:t>Higher CO2 values</a:t>
            </a:r>
          </a:p>
          <a:p>
            <a:pPr marL="914400" marR="0" lvl="1" indent="-228600" algn="l" rtl="0">
              <a:lnSpc>
                <a:spcPct val="100000"/>
              </a:lnSpc>
              <a:spcBef>
                <a:spcPts val="0"/>
              </a:spcBef>
              <a:spcAft>
                <a:spcPts val="0"/>
              </a:spcAft>
              <a:buClr>
                <a:srgbClr val="000000"/>
              </a:buClr>
              <a:buSzPct val="100000"/>
              <a:buFont typeface="Arial"/>
              <a:buChar char="–"/>
            </a:pPr>
            <a:r>
              <a:rPr lang="en-GB" sz="1600" b="0" i="0" u="none" strike="noStrike" cap="none">
                <a:solidFill>
                  <a:srgbClr val="000000"/>
                </a:solidFill>
                <a:latin typeface="Arial"/>
                <a:ea typeface="Arial"/>
                <a:cs typeface="Arial"/>
                <a:sym typeface="Arial"/>
              </a:rPr>
              <a:t>Higher population density</a:t>
            </a:r>
          </a:p>
          <a:p>
            <a:pPr marL="0" marR="0" lvl="0" indent="0" algn="l" rtl="0">
              <a:lnSpc>
                <a:spcPct val="100000"/>
              </a:lnSpc>
              <a:spcBef>
                <a:spcPts val="0"/>
              </a:spcBef>
              <a:spcAft>
                <a:spcPts val="0"/>
              </a:spcAft>
              <a:buClr>
                <a:srgbClr val="3F3F3F"/>
              </a:buClr>
              <a:buSzPct val="25000"/>
              <a:buFont typeface="Arial"/>
              <a:buNone/>
            </a:pPr>
            <a:endParaRPr sz="11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ct val="25000"/>
              <a:buFont typeface="Arial"/>
              <a:buNone/>
            </a:pPr>
            <a:endParaRPr sz="2000" b="0" i="0" u="none" strike="noStrike" cap="none">
              <a:solidFill>
                <a:srgbClr val="3F3F3F"/>
              </a:solidFill>
              <a:latin typeface="Arial"/>
              <a:ea typeface="Arial"/>
              <a:cs typeface="Arial"/>
              <a:sym typeface="Arial"/>
            </a:endParaRPr>
          </a:p>
        </p:txBody>
      </p:sp>
      <p:sp>
        <p:nvSpPr>
          <p:cNvPr id="177" name="Shape 177"/>
          <p:cNvSpPr txBox="1"/>
          <p:nvPr/>
        </p:nvSpPr>
        <p:spPr>
          <a:xfrm>
            <a:off x="2056247" y="4041680"/>
            <a:ext cx="6849299" cy="555300"/>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dk1"/>
              </a:buClr>
              <a:buSzPct val="25000"/>
              <a:buFont typeface="Arial"/>
              <a:buNone/>
            </a:pPr>
            <a:r>
              <a:rPr lang="en-GB" sz="1600" b="1" i="1" u="none" strike="noStrike" cap="none">
                <a:solidFill>
                  <a:srgbClr val="3F3F3F"/>
                </a:solidFill>
                <a:latin typeface="Arial"/>
                <a:ea typeface="Arial"/>
                <a:cs typeface="Arial"/>
                <a:sym typeface="Arial"/>
              </a:rPr>
              <a:t>Trade off - Higher income may mean higher CO2! </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78" name="Shape 178"/>
          <p:cNvSpPr txBox="1">
            <a:spLocks noGrp="1"/>
          </p:cNvSpPr>
          <p:nvPr>
            <p:ph type="body" idx="1"/>
          </p:nvPr>
        </p:nvSpPr>
        <p:spPr>
          <a:xfrm>
            <a:off x="405886" y="969599"/>
            <a:ext cx="8496900" cy="460500"/>
          </a:xfrm>
          <a:prstGeom prst="rect">
            <a:avLst/>
          </a:prstGeom>
          <a:noFill/>
          <a:ln>
            <a:noFill/>
          </a:ln>
        </p:spPr>
        <p:txBody>
          <a:bodyPr lIns="91425" tIns="45700" rIns="91425" bIns="45700" anchor="ctr" anchorCtr="0">
            <a:noAutofit/>
          </a:bodyPr>
          <a:lstStyle/>
          <a:p>
            <a:pPr marL="0" marR="0" lvl="0" indent="0" algn="l" rtl="0">
              <a:spcBef>
                <a:spcPts val="0"/>
              </a:spcBef>
              <a:buClr>
                <a:srgbClr val="3F3F3F"/>
              </a:buClr>
              <a:buSzPct val="25000"/>
              <a:buFont typeface="Arial"/>
              <a:buNone/>
            </a:pPr>
            <a:r>
              <a:rPr lang="en-GB" b="1"/>
              <a:t>Income Based Analysis</a:t>
            </a:r>
            <a:r>
              <a:rPr lang="en-GB" sz="2000" b="1" i="0" u="none" strike="noStrike" cap="none">
                <a:solidFill>
                  <a:srgbClr val="3F3F3F"/>
                </a:solidFill>
                <a:latin typeface="Arial"/>
                <a:ea typeface="Arial"/>
                <a:cs typeface="Arial"/>
                <a:sym typeface="Arial"/>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Shape 183"/>
          <p:cNvSpPr txBox="1">
            <a:spLocks noGrp="1"/>
          </p:cNvSpPr>
          <p:nvPr>
            <p:ph type="title"/>
          </p:nvPr>
        </p:nvSpPr>
        <p:spPr>
          <a:xfrm>
            <a:off x="0" y="0"/>
            <a:ext cx="9144000"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dirty="0">
                <a:solidFill>
                  <a:srgbClr val="3F3F3F"/>
                </a:solidFill>
                <a:latin typeface="Arial"/>
                <a:ea typeface="Arial"/>
                <a:cs typeface="Arial"/>
                <a:sym typeface="Arial"/>
              </a:rPr>
              <a:t>Impact</a:t>
            </a:r>
          </a:p>
        </p:txBody>
      </p:sp>
      <p:sp>
        <p:nvSpPr>
          <p:cNvPr id="184" name="Shape 184"/>
          <p:cNvSpPr txBox="1">
            <a:spLocks noGrp="1"/>
          </p:cNvSpPr>
          <p:nvPr>
            <p:ph type="body" idx="2"/>
          </p:nvPr>
        </p:nvSpPr>
        <p:spPr>
          <a:xfrm>
            <a:off x="549825" y="1020800"/>
            <a:ext cx="7303800" cy="3446700"/>
          </a:xfrm>
          <a:prstGeom prst="rect">
            <a:avLst/>
          </a:prstGeom>
          <a:noFill/>
          <a:ln>
            <a:noFill/>
          </a:ln>
        </p:spPr>
        <p:txBody>
          <a:bodyPr lIns="396000" tIns="45700" rIns="91425" bIns="45700" anchor="t" anchorCtr="0">
            <a:noAutofit/>
          </a:bodyPr>
          <a:lstStyle/>
          <a:p>
            <a:pPr marL="457200" marR="0" lvl="0" indent="-342900" algn="just" rtl="0">
              <a:lnSpc>
                <a:spcPct val="100000"/>
              </a:lnSpc>
              <a:spcBef>
                <a:spcPts val="0"/>
              </a:spcBef>
              <a:spcAft>
                <a:spcPts val="0"/>
              </a:spcAft>
              <a:buClr>
                <a:srgbClr val="3F3F3F"/>
              </a:buClr>
              <a:buSzPct val="100000"/>
              <a:buFont typeface="Arial"/>
              <a:buChar char="●"/>
            </a:pPr>
            <a:r>
              <a:rPr lang="en-GB" sz="1800" b="0" i="0" u="none" strike="noStrike" cap="none" dirty="0">
                <a:solidFill>
                  <a:srgbClr val="3F3F3F"/>
                </a:solidFill>
                <a:latin typeface="Arial"/>
                <a:ea typeface="Arial"/>
                <a:cs typeface="Arial"/>
                <a:sym typeface="Arial"/>
              </a:rPr>
              <a:t>Provides customers with a useful instrument to make correct real estate investing decisions</a:t>
            </a:r>
          </a:p>
          <a:p>
            <a:pPr marR="0" lvl="0" algn="just" rtl="0">
              <a:lnSpc>
                <a:spcPct val="100000"/>
              </a:lnSpc>
              <a:spcBef>
                <a:spcPts val="0"/>
              </a:spcBef>
              <a:spcAft>
                <a:spcPts val="0"/>
              </a:spcAft>
              <a:buNone/>
            </a:pPr>
            <a:endParaRPr sz="1800" dirty="0"/>
          </a:p>
          <a:p>
            <a:pPr marL="457200" marR="0" lvl="0" indent="-342900" algn="just" rtl="0">
              <a:lnSpc>
                <a:spcPct val="100000"/>
              </a:lnSpc>
              <a:spcBef>
                <a:spcPts val="0"/>
              </a:spcBef>
              <a:spcAft>
                <a:spcPts val="0"/>
              </a:spcAft>
              <a:buClr>
                <a:srgbClr val="3F3F3F"/>
              </a:buClr>
              <a:buSzPct val="100000"/>
              <a:buFont typeface="Arial"/>
              <a:buChar char="●"/>
            </a:pPr>
            <a:r>
              <a:rPr lang="en-GB" sz="1800" b="0" i="0" u="none" strike="noStrike" cap="none" dirty="0">
                <a:solidFill>
                  <a:srgbClr val="3F3F3F"/>
                </a:solidFill>
                <a:latin typeface="Arial"/>
                <a:ea typeface="Arial"/>
                <a:cs typeface="Arial"/>
                <a:sym typeface="Arial"/>
              </a:rPr>
              <a:t>Focus on environmentally conscious customer and their views about evaluating a buying decision</a:t>
            </a:r>
          </a:p>
          <a:p>
            <a:pPr marR="0" lvl="0" algn="just" rtl="0">
              <a:lnSpc>
                <a:spcPct val="100000"/>
              </a:lnSpc>
              <a:spcBef>
                <a:spcPts val="0"/>
              </a:spcBef>
              <a:spcAft>
                <a:spcPts val="0"/>
              </a:spcAft>
              <a:buNone/>
            </a:pPr>
            <a:endParaRPr sz="1800" dirty="0"/>
          </a:p>
          <a:p>
            <a:pPr marL="457200" marR="0" lvl="0" indent="-342900" algn="just" rtl="0">
              <a:lnSpc>
                <a:spcPct val="100000"/>
              </a:lnSpc>
              <a:spcBef>
                <a:spcPts val="0"/>
              </a:spcBef>
              <a:spcAft>
                <a:spcPts val="0"/>
              </a:spcAft>
              <a:buClr>
                <a:srgbClr val="3F3F3F"/>
              </a:buClr>
              <a:buSzPct val="100000"/>
              <a:buFont typeface="Arial"/>
              <a:buChar char="●"/>
            </a:pPr>
            <a:r>
              <a:rPr lang="en-GB" sz="1800" b="0" i="0" u="none" strike="noStrike" cap="none" dirty="0">
                <a:solidFill>
                  <a:srgbClr val="3F3F3F"/>
                </a:solidFill>
                <a:latin typeface="Arial"/>
                <a:ea typeface="Arial"/>
                <a:cs typeface="Arial"/>
                <a:sym typeface="Arial"/>
              </a:rPr>
              <a:t>Tool to assign different weights by how important different factors are in their real life and as a real estate company, providing more reasonable suggestions</a:t>
            </a:r>
          </a:p>
        </p:txBody>
      </p:sp>
      <p:sp>
        <p:nvSpPr>
          <p:cNvPr id="185" name="Shape 185"/>
          <p:cNvSpPr txBox="1"/>
          <p:nvPr/>
        </p:nvSpPr>
        <p:spPr>
          <a:xfrm>
            <a:off x="486900" y="3977925"/>
            <a:ext cx="8170200" cy="741600"/>
          </a:xfrm>
          <a:prstGeom prst="rect">
            <a:avLst/>
          </a:prstGeom>
          <a:noFill/>
          <a:ln>
            <a:noFill/>
          </a:ln>
        </p:spPr>
        <p:txBody>
          <a:bodyPr lIns="91425" tIns="91425" rIns="91425" bIns="91425" anchor="t" anchorCtr="0">
            <a:noAutofit/>
          </a:bodyPr>
          <a:lstStyle/>
          <a:p>
            <a:pPr lvl="0" algn="ctr" rtl="0">
              <a:spcBef>
                <a:spcPts val="0"/>
              </a:spcBef>
              <a:buClr>
                <a:srgbClr val="3F3F3F"/>
              </a:buClr>
              <a:buSzPct val="25000"/>
              <a:buFont typeface="Arial"/>
              <a:buNone/>
            </a:pPr>
            <a:r>
              <a:rPr lang="en-GB" sz="1800" b="1" i="1" dirty="0">
                <a:solidFill>
                  <a:srgbClr val="3F3F3F"/>
                </a:solidFill>
              </a:rPr>
              <a:t>Provide customers with information to make an educated choice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Shape 190"/>
          <p:cNvSpPr txBox="1">
            <a:spLocks noGrp="1"/>
          </p:cNvSpPr>
          <p:nvPr>
            <p:ph type="title"/>
          </p:nvPr>
        </p:nvSpPr>
        <p:spPr>
          <a:xfrm>
            <a:off x="0" y="0"/>
            <a:ext cx="9144000" cy="884400"/>
          </a:xfrm>
          <a:prstGeom prst="rect">
            <a:avLst/>
          </a:prstGeom>
        </p:spPr>
        <p:txBody>
          <a:bodyPr lIns="91425" tIns="91425" rIns="91425" bIns="91425" anchor="ctr" anchorCtr="0">
            <a:noAutofit/>
          </a:bodyPr>
          <a:lstStyle/>
          <a:p>
            <a:pPr lvl="0">
              <a:spcBef>
                <a:spcPts val="0"/>
              </a:spcBef>
              <a:buNone/>
            </a:pPr>
            <a:r>
              <a:rPr lang="en-GB"/>
              <a:t>Sources</a:t>
            </a:r>
          </a:p>
        </p:txBody>
      </p:sp>
      <p:sp>
        <p:nvSpPr>
          <p:cNvPr id="191" name="Shape 191"/>
          <p:cNvSpPr txBox="1">
            <a:spLocks noGrp="1"/>
          </p:cNvSpPr>
          <p:nvPr>
            <p:ph type="body" idx="2"/>
          </p:nvPr>
        </p:nvSpPr>
        <p:spPr>
          <a:xfrm>
            <a:off x="405880" y="1161543"/>
            <a:ext cx="8496900" cy="2995800"/>
          </a:xfrm>
          <a:prstGeom prst="rect">
            <a:avLst/>
          </a:prstGeom>
        </p:spPr>
        <p:txBody>
          <a:bodyPr lIns="91425" tIns="91425" rIns="91425" bIns="91425" anchor="t" anchorCtr="0">
            <a:noAutofit/>
          </a:bodyPr>
          <a:lstStyle/>
          <a:p>
            <a:pPr lvl="0">
              <a:spcBef>
                <a:spcPts val="0"/>
              </a:spcBef>
              <a:buNone/>
            </a:pPr>
            <a:r>
              <a:rPr lang="en-GB" b="1"/>
              <a:t>UC Berkeley Data</a:t>
            </a:r>
          </a:p>
          <a:p>
            <a:pPr lvl="0">
              <a:spcBef>
                <a:spcPts val="0"/>
              </a:spcBef>
              <a:buNone/>
            </a:pPr>
            <a:r>
              <a:rPr lang="en-GB" u="sng">
                <a:solidFill>
                  <a:schemeClr val="hlink"/>
                </a:solidFill>
                <a:hlinkClick r:id="rId3"/>
              </a:rPr>
              <a:t>http://coolclimate.berkeley.edu/</a:t>
            </a:r>
          </a:p>
          <a:p>
            <a:pPr lvl="0">
              <a:spcBef>
                <a:spcPts val="0"/>
              </a:spcBef>
              <a:buNone/>
            </a:pPr>
            <a:endParaRPr/>
          </a:p>
          <a:p>
            <a:pPr lvl="0">
              <a:spcBef>
                <a:spcPts val="0"/>
              </a:spcBef>
              <a:buNone/>
            </a:pPr>
            <a:r>
              <a:rPr lang="en-GB" b="1"/>
              <a:t>Income Tax Rates &amp; Property Tax average</a:t>
            </a:r>
          </a:p>
          <a:p>
            <a:pPr lvl="0">
              <a:spcBef>
                <a:spcPts val="0"/>
              </a:spcBef>
              <a:buNone/>
            </a:pPr>
            <a:r>
              <a:rPr lang="en-GB" u="sng">
                <a:solidFill>
                  <a:schemeClr val="hlink"/>
                </a:solidFill>
                <a:hlinkClick r:id="rId4"/>
              </a:rPr>
              <a:t>http://modernsurvivalblog.com/retreat-living/lowest-to-highest-taxes-by-state/</a:t>
            </a:r>
          </a:p>
          <a:p>
            <a:pPr lvl="0">
              <a:spcBef>
                <a:spcPts val="0"/>
              </a:spcBef>
              <a:buNone/>
            </a:pPr>
            <a:endParaRPr/>
          </a:p>
          <a:p>
            <a:pPr lvl="0">
              <a:spcBef>
                <a:spcPts val="0"/>
              </a:spcBef>
              <a:buNone/>
            </a:pPr>
            <a:endParaRPr/>
          </a:p>
          <a:p>
            <a:pPr lvl="0">
              <a:spcBef>
                <a:spcPts val="0"/>
              </a:spcBef>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Shape 196"/>
          <p:cNvSpPr txBox="1">
            <a:spLocks noGrp="1"/>
          </p:cNvSpPr>
          <p:nvPr>
            <p:ph type="title"/>
          </p:nvPr>
        </p:nvSpPr>
        <p:spPr>
          <a:xfrm>
            <a:off x="1619670" y="0"/>
            <a:ext cx="7524327" cy="88446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3600" b="1" i="0" u="none" strike="noStrike" cap="none">
                <a:solidFill>
                  <a:srgbClr val="3F3F3F"/>
                </a:solidFill>
                <a:latin typeface="Arial"/>
                <a:ea typeface="Arial"/>
                <a:cs typeface="Arial"/>
                <a:sym typeface="Arial"/>
              </a:rPr>
              <a:t>Thank You</a:t>
            </a:r>
          </a:p>
        </p:txBody>
      </p:sp>
      <p:sp>
        <p:nvSpPr>
          <p:cNvPr id="197" name="Shape 197"/>
          <p:cNvSpPr txBox="1">
            <a:spLocks noGrp="1"/>
          </p:cNvSpPr>
          <p:nvPr>
            <p:ph type="body" idx="2"/>
          </p:nvPr>
        </p:nvSpPr>
        <p:spPr>
          <a:xfrm>
            <a:off x="4345139" y="2572953"/>
            <a:ext cx="2653951" cy="331440"/>
          </a:xfrm>
          <a:prstGeom prst="rect">
            <a:avLst/>
          </a:prstGeom>
          <a:noFill/>
          <a:ln>
            <a:noFill/>
          </a:ln>
        </p:spPr>
        <p:txBody>
          <a:bodyPr lIns="396000" tIns="45700" rIns="91425" bIns="45700" anchor="t" anchorCtr="0">
            <a:noAutofit/>
          </a:bodyPr>
          <a:lstStyle/>
          <a:p>
            <a:pPr marL="0" marR="0" lvl="0" indent="0" algn="l" rtl="0">
              <a:lnSpc>
                <a:spcPct val="100000"/>
              </a:lnSpc>
              <a:spcBef>
                <a:spcPts val="0"/>
              </a:spcBef>
              <a:spcAft>
                <a:spcPts val="0"/>
              </a:spcAft>
              <a:buClr>
                <a:srgbClr val="3F3F3F"/>
              </a:buClr>
              <a:buSzPct val="25000"/>
              <a:buFont typeface="Arial"/>
              <a:buNone/>
            </a:pPr>
            <a:r>
              <a:rPr lang="en-GB" sz="2400" b="0" i="0" u="none" strike="noStrike" cap="none">
                <a:solidFill>
                  <a:srgbClr val="3F3F3F"/>
                </a:solidFill>
                <a:latin typeface="Arial"/>
                <a:ea typeface="Arial"/>
                <a:cs typeface="Arial"/>
                <a:sym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1233</Words>
  <Application>Microsoft Office PowerPoint</Application>
  <PresentationFormat>On-screen Show (16:9)</PresentationFormat>
  <Paragraphs>287</Paragraphs>
  <Slides>20</Slides>
  <Notes>20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20</vt:i4>
      </vt:variant>
    </vt:vector>
  </HeadingPairs>
  <TitlesOfParts>
    <vt:vector size="23" baseType="lpstr">
      <vt:lpstr>Arial</vt:lpstr>
      <vt:lpstr>Office Theme</vt:lpstr>
      <vt:lpstr>Office Theme</vt:lpstr>
      <vt:lpstr>PowerPoint Presentation</vt:lpstr>
      <vt:lpstr>Agenda</vt:lpstr>
      <vt:lpstr> Introduction</vt:lpstr>
      <vt:lpstr>Executive Summary</vt:lpstr>
      <vt:lpstr>Problem Statement</vt:lpstr>
      <vt:lpstr>Motivation</vt:lpstr>
      <vt:lpstr>Data Sources</vt:lpstr>
      <vt:lpstr>Data Pre-Processing</vt:lpstr>
      <vt:lpstr>Problem Formulation</vt:lpstr>
      <vt:lpstr>Solution Method – Business Perspective</vt:lpstr>
      <vt:lpstr>Solution Method – Technical Perspective</vt:lpstr>
      <vt:lpstr>Results</vt:lpstr>
      <vt:lpstr>Results</vt:lpstr>
      <vt:lpstr>Sensitivity Analysis</vt:lpstr>
      <vt:lpstr>Sensitivity Analysis (contd.)</vt:lpstr>
      <vt:lpstr>Further Insights</vt:lpstr>
      <vt:lpstr>Further Insights </vt:lpstr>
      <vt:lpstr>Impact</vt:lpstr>
      <vt:lpstr>Sources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Kuntal Ghosh</dc:creator>
  <cp:lastModifiedBy>Kuntal Ghosh</cp:lastModifiedBy>
  <cp:revision>5</cp:revision>
  <cp:lastPrinted>2016-12-09T20:01:18Z</cp:lastPrinted>
  <dcterms:modified xsi:type="dcterms:W3CDTF">2016-12-09T20:39:43Z</dcterms:modified>
</cp:coreProperties>
</file>